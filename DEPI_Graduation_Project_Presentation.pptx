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57" r:id="rId4"/>
    <p:sldId id="266" r:id="rId5"/>
    <p:sldId id="267" r:id="rId6"/>
    <p:sldId id="261" r:id="rId7"/>
    <p:sldId id="258" r:id="rId8"/>
    <p:sldId id="259" r:id="rId9"/>
    <p:sldId id="268" r:id="rId10"/>
    <p:sldId id="260" r:id="rId11"/>
    <p:sldId id="279" r:id="rId12"/>
    <p:sldId id="269" r:id="rId13"/>
    <p:sldId id="270" r:id="rId14"/>
    <p:sldId id="271" r:id="rId15"/>
    <p:sldId id="272" r:id="rId16"/>
    <p:sldId id="262" r:id="rId17"/>
    <p:sldId id="273" r:id="rId18"/>
    <p:sldId id="278" r:id="rId19"/>
    <p:sldId id="275" r:id="rId20"/>
    <p:sldId id="263" r:id="rId21"/>
    <p:sldId id="276" r:id="rId22"/>
    <p:sldId id="265" r:id="rId23"/>
  </p:sldIdLst>
  <p:sldSz cx="12192000" cy="6858000"/>
  <p:notesSz cx="6858000" cy="9144000"/>
  <p:embeddedFontLs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0259" y="1243763"/>
            <a:ext cx="9445752" cy="1535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47954"/>
                </a:solidFill>
                <a:latin typeface="Calibri"/>
              </a:defRPr>
            </a:pPr>
            <a:r>
              <a:rPr lang="en-US" dirty="0"/>
              <a:t>Automated Student Monitoring System for Virtual Classrooms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3959352" cy="36576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6EA8"/>
                </a:solidFill>
                <a:latin typeface="Calibri"/>
              </a:defRPr>
            </a:pPr>
            <a:r>
              <a:t>Real-Time Multi-Person AI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6EA8"/>
                </a:solidFill>
                <a:latin typeface="Calibri"/>
              </a:defRPr>
            </a:pPr>
            <a:r>
              <a:t>Using Computer Vision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5752" cy="25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rPr sz="1800" dirty="0"/>
              <a:t>Presented by</a:t>
            </a:r>
            <a:endParaRPr lang="ar-EG" sz="1800" dirty="0"/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rPr sz="1800" dirty="0"/>
              <a:t>Mo</a:t>
            </a:r>
            <a:r>
              <a:rPr lang="ar-EG" sz="1800" dirty="0"/>
              <a:t>’</a:t>
            </a:r>
            <a:r>
              <a:rPr sz="1800" dirty="0"/>
              <a:t>men</a:t>
            </a:r>
            <a:r>
              <a:rPr lang="en-US" sz="1800" dirty="0"/>
              <a:t> Ahmed Farouq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rPr lang="en-US" sz="1800" dirty="0"/>
              <a:t>Mohamed Tamer Elsheikh</a:t>
            </a:r>
          </a:p>
          <a:p>
            <a:pPr algn="ctr">
              <a:lnSpc>
                <a:spcPct val="115000"/>
              </a:lnSpc>
              <a:defRPr sz="1400" b="0">
                <a:solidFill>
                  <a:srgbClr val="1A1A1A"/>
                </a:solidFill>
                <a:latin typeface="Calibri"/>
              </a:defRPr>
            </a:pPr>
            <a:r>
              <a:rPr lang="en-US" sz="1800" dirty="0"/>
              <a:t>Moaz Abdelmoneim</a:t>
            </a:r>
            <a:r>
              <a:rPr lang="ar-EG" sz="1800" dirty="0"/>
              <a:t> </a:t>
            </a:r>
            <a:r>
              <a:rPr lang="en-US" sz="1800" dirty="0" err="1"/>
              <a:t>Abdelaleem</a:t>
            </a:r>
            <a:r>
              <a:rPr lang="en-US" sz="1800" dirty="0"/>
              <a:t> </a:t>
            </a:r>
          </a:p>
          <a:p>
            <a:pPr algn="ctr">
              <a:lnSpc>
                <a:spcPct val="115000"/>
              </a:lnSpc>
              <a:defRPr sz="1400" b="0">
                <a:solidFill>
                  <a:srgbClr val="1A1A1A"/>
                </a:solidFill>
                <a:latin typeface="Calibri"/>
              </a:defRPr>
            </a:pPr>
            <a:r>
              <a:rPr lang="en-US" sz="1800" dirty="0"/>
              <a:t>Wisal </a:t>
            </a:r>
            <a:r>
              <a:rPr lang="en-US" sz="1800" dirty="0" err="1"/>
              <a:t>Metwaly</a:t>
            </a:r>
            <a:r>
              <a:rPr lang="en-US" sz="1800" dirty="0"/>
              <a:t> Mostafa</a:t>
            </a:r>
          </a:p>
          <a:p>
            <a:pPr algn="ctr">
              <a:lnSpc>
                <a:spcPct val="115000"/>
              </a:lnSpc>
              <a:defRPr sz="1400" b="0">
                <a:solidFill>
                  <a:srgbClr val="1A1A1A"/>
                </a:solidFill>
                <a:latin typeface="Calibri"/>
              </a:defRPr>
            </a:pPr>
            <a:r>
              <a:rPr lang="en-US" sz="1800" dirty="0"/>
              <a:t>Karen Wadid Riad</a:t>
            </a:r>
          </a:p>
          <a:p>
            <a:pPr algn="ctr">
              <a:lnSpc>
                <a:spcPct val="115000"/>
              </a:lnSpc>
              <a:defRPr sz="1400" b="0">
                <a:solidFill>
                  <a:srgbClr val="1A1A1A"/>
                </a:solidFill>
                <a:latin typeface="Calibri"/>
              </a:defRPr>
            </a:pPr>
            <a:r>
              <a:rPr lang="en-US" sz="1800" dirty="0"/>
              <a:t>Reem Yasser Fathy</a:t>
            </a:r>
          </a:p>
          <a:p>
            <a:pPr algn="ctr">
              <a:lnSpc>
                <a:spcPct val="115000"/>
              </a:lnSpc>
              <a:defRPr sz="1400" b="0">
                <a:solidFill>
                  <a:srgbClr val="1A1A1A"/>
                </a:solidFill>
                <a:latin typeface="Calibri"/>
              </a:defRPr>
            </a:pP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1450259" y="3664544"/>
            <a:ext cx="9445752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FAB7D"/>
                </a:solidFill>
                <a:latin typeface="Calibri"/>
              </a:defRPr>
            </a:pPr>
            <a:r>
              <a:rPr sz="1600" dirty="0"/>
              <a:t>Digital Egypt Pioneers Initiative (DEPI) — Graduation Project</a:t>
            </a:r>
          </a:p>
        </p:txBody>
      </p:sp>
      <p:pic>
        <p:nvPicPr>
          <p:cNvPr id="9" name="Google Shape;110;p1">
            <a:extLst>
              <a:ext uri="{FF2B5EF4-FFF2-40B4-BE49-F238E27FC236}">
                <a16:creationId xmlns:a16="http://schemas.microsoft.com/office/drawing/2014/main" id="{6635ED39-71AB-8BC0-188A-65428482AF0A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8543838" y="6354099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9D6CF8-1677-6B5C-DCAD-5593456922F5}"/>
              </a:ext>
            </a:extLst>
          </p:cNvPr>
          <p:cNvSpPr txBox="1"/>
          <p:nvPr/>
        </p:nvSpPr>
        <p:spPr>
          <a:xfrm>
            <a:off x="11053328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908B29-1319-A7A7-6749-95477A0D76F3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700000" y="1670000"/>
            <a:ext cx="400000" cy="400000"/>
          </a:xfrm>
          <a:prstGeom prst="ellipse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0000" y="169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Project Idea &amp;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2100000"/>
            <a:ext cx="3" cy="1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0000" y="2190000"/>
            <a:ext cx="400000" cy="400000"/>
          </a:xfrm>
          <a:prstGeom prst="ellipse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0000" y="221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Dataset Creation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0" y="2620000"/>
            <a:ext cx="3" cy="1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0000" y="2710000"/>
            <a:ext cx="400000" cy="40000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000" y="273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System Pipeline &amp;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" y="3140000"/>
            <a:ext cx="3" cy="1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0000" y="3230000"/>
            <a:ext cx="400000" cy="400000"/>
          </a:xfrm>
          <a:prstGeom prst="ellipse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0000" y="325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Technical Deep Dives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3660000"/>
            <a:ext cx="3" cy="1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0000" y="3750000"/>
            <a:ext cx="400000" cy="400000"/>
          </a:xfrm>
          <a:prstGeom prst="ellipse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0000" y="377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Live Application &amp; Web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000" y="4180000"/>
            <a:ext cx="3" cy="1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00000" y="4270000"/>
            <a:ext cx="400000" cy="40000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0000" y="429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Results &amp; 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000" y="4700000"/>
            <a:ext cx="3" cy="1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00000" y="4790000"/>
            <a:ext cx="400000" cy="400000"/>
          </a:xfrm>
          <a:prstGeom prst="ellipse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0000" y="481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Deliverables &amp; Future Work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B32C0A5-3831-36A5-2E55-D60A87BD85C2}"/>
              </a:ext>
            </a:extLst>
          </p:cNvPr>
          <p:cNvSpPr txBox="1"/>
          <p:nvPr/>
        </p:nvSpPr>
        <p:spPr>
          <a:xfrm>
            <a:off x="11053328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1E3909-FADB-1312-7C42-252E259BE048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47954"/>
                </a:solidFill>
                <a:latin typeface="Calibri"/>
              </a:defRPr>
            </a:pPr>
            <a:r>
              <a:rPr sz="2800" b="1" dirty="0">
                <a:solidFill>
                  <a:srgbClr val="047954"/>
                </a:solidFill>
              </a:rPr>
              <a:t>Project Idea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64008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73152" cy="123444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64792"/>
            <a:ext cx="6080760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6EA8"/>
                </a:solidFill>
                <a:latin typeface="Calibri"/>
              </a:defRPr>
            </a:pPr>
            <a:r>
              <a:rPr sz="1600" dirty="0"/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39112"/>
            <a:ext cx="6080760" cy="79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300" dirty="0"/>
              <a:t>Manually monitoring student attention in classrooms is impossible at scale. Teachers cannot simultaneously track multiple students, objectively measure engagement levels, or detect phone usage and exam cheating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64008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73152" cy="123444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090672"/>
            <a:ext cx="6080760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47954"/>
                </a:solidFill>
                <a:latin typeface="Calibri"/>
              </a:defRPr>
            </a:pPr>
            <a:r>
              <a:rPr sz="1600" dirty="0"/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64992"/>
            <a:ext cx="6242992" cy="79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300" dirty="0"/>
              <a:t>A real-time AI-powered system that uses a standard webcam to simultaneously monitor up to 4 students — classifying each student's focus state every second, detecting phone usage, and identifying attempts to spoof the system with printed photos.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43400"/>
            <a:ext cx="64008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4343400"/>
            <a:ext cx="73152" cy="1554480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416552"/>
            <a:ext cx="6080760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7B119"/>
                </a:solidFill>
                <a:latin typeface="Calibri"/>
              </a:defRPr>
            </a:pPr>
            <a:r>
              <a:rPr sz="1600" dirty="0"/>
              <a:t>Unique Value Proposition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90872"/>
            <a:ext cx="6080760" cy="103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300" dirty="0"/>
              <a:t>• First-of-its-kind per-person attribution (phone matched to holder)</a:t>
            </a:r>
            <a:br>
              <a:rPr sz="1300" dirty="0"/>
            </a:br>
            <a:r>
              <a:rPr sz="1300" dirty="0"/>
              <a:t>• Anti-spoofing via adaptive blink detection — not just ML</a:t>
            </a:r>
            <a:br>
              <a:rPr sz="1300" dirty="0"/>
            </a:br>
            <a:r>
              <a:rPr sz="1300" dirty="0"/>
              <a:t>• Zero-effort calibration — 3-second baseline per session</a:t>
            </a:r>
            <a:br>
              <a:rPr sz="1300" dirty="0"/>
            </a:br>
            <a:r>
              <a:rPr sz="1300" dirty="0"/>
              <a:t>• Generates timestamped CSV + analytics charts per student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82880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📷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Camera Feed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125711" y="2423160"/>
            <a:ext cx="219456" cy="41148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79" y="288036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🧠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AI Analysis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125711" y="3474720"/>
            <a:ext cx="219456" cy="41148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98079" y="393192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📊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Real-Time Overlay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125711" y="4526280"/>
            <a:ext cx="219456" cy="41148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98079" y="498348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📈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Session Report</a:t>
            </a:r>
          </a:p>
        </p:txBody>
      </p:sp>
      <p:pic>
        <p:nvPicPr>
          <p:cNvPr id="23" name="Google Shape;110;p1">
            <a:extLst>
              <a:ext uri="{FF2B5EF4-FFF2-40B4-BE49-F238E27FC236}">
                <a16:creationId xmlns:a16="http://schemas.microsoft.com/office/drawing/2014/main" id="{DF7D56B5-E78A-593E-4B35-17C08F082010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8543838" y="6354099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639FB61-D82D-48BC-204F-4136BE007F12}"/>
              </a:ext>
            </a:extLst>
          </p:cNvPr>
          <p:cNvSpPr txBox="1"/>
          <p:nvPr/>
        </p:nvSpPr>
        <p:spPr>
          <a:xfrm>
            <a:off x="11053328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3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6C95DE-B967-F4A2-9432-7E721E39B538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3135" y="124232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2001" y="2345920"/>
            <a:ext cx="4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32F2F"/>
                </a:solidFill>
              </a:rP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2001" y="2665960"/>
            <a:ext cx="5120000" cy="41148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2001" y="2665960"/>
            <a:ext cx="73152" cy="4114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153" y="2654480"/>
            <a:ext cx="4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A1A"/>
                </a:solidFill>
              </a:rPr>
              <a:t>⚠  No publicly available dataset matched our specific project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001" y="3145960"/>
            <a:ext cx="5120000" cy="41148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2001" y="3145960"/>
            <a:ext cx="73152" cy="4114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5153" y="3145720"/>
            <a:ext cx="4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A1A"/>
                </a:solidFill>
              </a:rPr>
              <a:t>⚠  Existing datasets lacked realistic classroom scenarios with natural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2001" y="3625960"/>
            <a:ext cx="5120000" cy="41148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2001" y="3625960"/>
            <a:ext cx="73152" cy="4114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5153" y="3634311"/>
            <a:ext cx="4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A1A"/>
                </a:solidFill>
              </a:rPr>
              <a:t>⚠  No dataset contained multi-person focus tracking with identity consistency.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2001" y="4105960"/>
            <a:ext cx="5120000" cy="41148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2001" y="4105960"/>
            <a:ext cx="73152" cy="4114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153" y="4095569"/>
            <a:ext cx="4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A1A"/>
                </a:solidFill>
              </a:rPr>
              <a:t>⚠  Available data did not support per-person phone attribution or anti-spoofing.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00000" y="3476669"/>
            <a:ext cx="400000" cy="250000"/>
          </a:xfrm>
          <a:prstGeom prst="rightArrow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500000" y="16002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47954"/>
                </a:solidFill>
              </a:rPr>
              <a:t>Our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0000" y="1920240"/>
            <a:ext cx="5200000" cy="7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FFFFFF"/>
                </a:solidFill>
              </a:rPr>
              <a:t>We built our own custom dataset from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000" y="275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</a:rPr>
              <a:t>Recorded real classroom videos, extracted frames,
manually labeled each image for Focused/Distracted.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0000" y="3300000"/>
            <a:ext cx="2500000" cy="15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200000" y="3300000"/>
            <a:ext cx="2500000" cy="15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00000" y="4899999"/>
            <a:ext cx="5200000" cy="1235329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64259"/>
            <a:ext cx="1362250" cy="3651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C3B4690-09F6-11F7-F53B-6DC7B37C8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00" y="3508412"/>
            <a:ext cx="2335056" cy="11413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1E63DA-D139-0C42-38A1-61865ABD1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058" y="3508412"/>
            <a:ext cx="2321884" cy="113205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AEF1170-40DA-301E-0008-3A459747543E}"/>
              </a:ext>
            </a:extLst>
          </p:cNvPr>
          <p:cNvSpPr txBox="1"/>
          <p:nvPr/>
        </p:nvSpPr>
        <p:spPr>
          <a:xfrm>
            <a:off x="11053328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4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3A5B8B-F6FF-BAF9-0319-53E0276DE34B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AA79E6E-0C53-F705-F6E2-944D98447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128" y="4950000"/>
            <a:ext cx="4896872" cy="11269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Dataset Creation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50000"/>
            <a:ext cx="2100000" cy="34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📹 Record Videos</a:t>
            </a:r>
          </a:p>
        </p:txBody>
      </p:sp>
      <p:sp>
        <p:nvSpPr>
          <p:cNvPr id="4" name="Down Arrow 3"/>
          <p:cNvSpPr/>
          <p:nvPr/>
        </p:nvSpPr>
        <p:spPr>
          <a:xfrm>
            <a:off x="1488912" y="1990000"/>
            <a:ext cx="219456" cy="18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170000"/>
            <a:ext cx="2100000" cy="34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🎬 Extract Frames</a:t>
            </a:r>
          </a:p>
        </p:txBody>
      </p:sp>
      <p:sp>
        <p:nvSpPr>
          <p:cNvPr id="6" name="Down Arrow 5"/>
          <p:cNvSpPr/>
          <p:nvPr/>
        </p:nvSpPr>
        <p:spPr>
          <a:xfrm>
            <a:off x="1488912" y="2510000"/>
            <a:ext cx="219456" cy="18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690000"/>
            <a:ext cx="2100000" cy="34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🧹 Manual Cleaning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88912" y="3030000"/>
            <a:ext cx="219456" cy="18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3210000"/>
            <a:ext cx="2100000" cy="34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🏷 Label Images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488912" y="3550000"/>
            <a:ext cx="219456" cy="18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3730000"/>
            <a:ext cx="2100000" cy="34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📂 Dataset Organization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488912" y="4070000"/>
            <a:ext cx="219456" cy="18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4250000"/>
            <a:ext cx="2100000" cy="34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🧮 Feature Extraction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88912" y="4590000"/>
            <a:ext cx="219456" cy="18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4770000"/>
            <a:ext cx="2100000" cy="340000"/>
          </a:xfrm>
          <a:prstGeom prst="round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📊 Training 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000" y="1650000"/>
            <a:ext cx="2800000" cy="75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00000" y="2550000"/>
            <a:ext cx="2800000" cy="75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00000" y="3450000"/>
            <a:ext cx="2800000" cy="75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00000" y="4350000"/>
            <a:ext cx="2800000" cy="75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0000" y="1650000"/>
            <a:ext cx="5400000" cy="5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Dataset Statistics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000" y="2250000"/>
            <a:ext cx="5400000" cy="3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0000" y="231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Total Videos: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0" y="2310000"/>
            <a:ext cx="2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ar-EG" sz="1200" dirty="0">
                <a:solidFill>
                  <a:srgbClr val="757575"/>
                </a:solidFill>
              </a:rPr>
              <a:t>28</a:t>
            </a:r>
            <a:endParaRPr sz="1200" dirty="0">
              <a:solidFill>
                <a:srgbClr val="757575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00000" y="2650000"/>
            <a:ext cx="5400000" cy="3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0000" y="271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Total Frames: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0000" y="2710000"/>
            <a:ext cx="2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ar-EG" sz="1200" dirty="0">
                <a:solidFill>
                  <a:srgbClr val="757575"/>
                </a:solidFill>
              </a:rPr>
              <a:t>5066</a:t>
            </a:r>
            <a:endParaRPr sz="1200" dirty="0">
              <a:solidFill>
                <a:srgbClr val="757575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300000" y="3050000"/>
            <a:ext cx="5400000" cy="3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50000" y="311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Labeled Images: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0000" y="3110000"/>
            <a:ext cx="2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ar-EG" sz="1200" dirty="0">
                <a:solidFill>
                  <a:srgbClr val="757575"/>
                </a:solidFill>
              </a:rPr>
              <a:t>5022</a:t>
            </a:r>
            <a:endParaRPr sz="1200" dirty="0">
              <a:solidFill>
                <a:srgbClr val="757575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00000" y="3450000"/>
            <a:ext cx="5400000" cy="3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50000" y="351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Focused Class: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000" y="3510000"/>
            <a:ext cx="2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ar-EG" sz="1200" dirty="0">
                <a:solidFill>
                  <a:srgbClr val="757575"/>
                </a:solidFill>
              </a:rPr>
              <a:t>2633</a:t>
            </a:r>
            <a:endParaRPr sz="1200" dirty="0">
              <a:solidFill>
                <a:srgbClr val="757575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300000" y="3850000"/>
            <a:ext cx="5400000" cy="3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50000" y="391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Distracted Class: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0000" y="3910000"/>
            <a:ext cx="2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ar-EG" sz="1200" dirty="0">
                <a:solidFill>
                  <a:srgbClr val="757575"/>
                </a:solidFill>
              </a:rPr>
              <a:t>2389</a:t>
            </a:r>
            <a:endParaRPr sz="1200" dirty="0">
              <a:solidFill>
                <a:srgbClr val="757575"/>
              </a:solidFill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52" name="Rounded Rectangle 18">
            <a:extLst>
              <a:ext uri="{FF2B5EF4-FFF2-40B4-BE49-F238E27FC236}">
                <a16:creationId xmlns:a16="http://schemas.microsoft.com/office/drawing/2014/main" id="{523501A9-A6E4-B40A-AF40-939993D30988}"/>
              </a:ext>
            </a:extLst>
          </p:cNvPr>
          <p:cNvSpPr/>
          <p:nvPr/>
        </p:nvSpPr>
        <p:spPr>
          <a:xfrm>
            <a:off x="3200000" y="5250000"/>
            <a:ext cx="2800000" cy="75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08490122-C018-E351-E5F9-197FECC64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776" y="1686065"/>
            <a:ext cx="1770816" cy="70464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07B0782-20C4-C4D6-CF88-DD8E07ADE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776" y="2600000"/>
            <a:ext cx="1770815" cy="67269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60E2C8C-771D-E1FC-08F9-9F2BD5A73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5481" y="3456594"/>
            <a:ext cx="1769038" cy="69089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1B10EE3-CBEF-3AB5-E0B4-186C4A1E50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5481" y="4420000"/>
            <a:ext cx="1769038" cy="62530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27FE450-06DE-5A01-BDC8-80D48C3DE2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3179" y="5291380"/>
            <a:ext cx="1751340" cy="66723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A7D33EF-0F54-AD8C-0EA1-793060377A29}"/>
              </a:ext>
            </a:extLst>
          </p:cNvPr>
          <p:cNvSpPr txBox="1"/>
          <p:nvPr/>
        </p:nvSpPr>
        <p:spPr>
          <a:xfrm>
            <a:off x="11053328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5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6FB7E9-BF69-8683-E371-0D97C1637EB9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8600035" y="6353431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Technology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700000"/>
            <a:ext cx="40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A1A1A"/>
                </a:solidFill>
              </a:rPr>
              <a:t>System 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8640" y="2200000"/>
            <a:ext cx="4000000" cy="90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48640" y="225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FFFFFF"/>
                </a:solidFill>
              </a:rPr>
              <a:t>Frontend &amp;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8640" y="255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Streamlit · WebRTC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640" y="3200000"/>
            <a:ext cx="5000000" cy="9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640" y="325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FFFFFF"/>
                </a:solidFill>
              </a:rPr>
              <a:t>AI &amp; Logic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40" y="355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MediaPipe · DeepFace · YOLOv8 · OpenCV · Scikit-Learn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00000"/>
            <a:ext cx="5600000" cy="900000"/>
          </a:xfrm>
          <a:prstGeom prst="round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250000"/>
            <a:ext cx="5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FFFFFF"/>
                </a:solidFill>
              </a:rPr>
              <a:t>Data, Storage &amp;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40" y="4550000"/>
            <a:ext cx="5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SQLite3 · Pandas · NumPy · n8n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0000" y="1700000"/>
            <a:ext cx="40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A1A1A"/>
                </a:solidFill>
              </a:rPr>
              <a:t>Core Technologies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0000" y="2200000"/>
            <a:ext cx="18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000000" y="2200000"/>
            <a:ext cx="18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000000" y="3500000"/>
            <a:ext cx="18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000000" y="3500000"/>
            <a:ext cx="18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00000" y="4800000"/>
            <a:ext cx="18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000000" y="4800000"/>
            <a:ext cx="18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2" name="Picture 1" descr="File:Python-logo-notext.svg - Wikimedia Commons">
            <a:extLst>
              <a:ext uri="{FF2B5EF4-FFF2-40B4-BE49-F238E27FC236}">
                <a16:creationId xmlns:a16="http://schemas.microsoft.com/office/drawing/2014/main" id="{C2D4AB0F-57ED-22A6-6600-8A46886CE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075" y="2348440"/>
            <a:ext cx="825850" cy="825850"/>
          </a:xfrm>
          <a:prstGeom prst="rect">
            <a:avLst/>
          </a:prstGeom>
        </p:spPr>
      </p:pic>
      <p:pic>
        <p:nvPicPr>
          <p:cNvPr id="3" name="Picture 2" descr="File:Tensorflow logo.svg - Wikimedia Commons">
            <a:extLst>
              <a:ext uri="{FF2B5EF4-FFF2-40B4-BE49-F238E27FC236}">
                <a16:creationId xmlns:a16="http://schemas.microsoft.com/office/drawing/2014/main" id="{364FD88B-F362-9E75-F63E-A40AC11F7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854" y="2337738"/>
            <a:ext cx="873017" cy="873017"/>
          </a:xfrm>
          <a:prstGeom prst="rect">
            <a:avLst/>
          </a:prstGeom>
        </p:spPr>
      </p:pic>
      <p:pic>
        <p:nvPicPr>
          <p:cNvPr id="5" name="Picture 4" descr="File:Streamlit-logo-primary-colormark-darktext.png ...">
            <a:extLst>
              <a:ext uri="{FF2B5EF4-FFF2-40B4-BE49-F238E27FC236}">
                <a16:creationId xmlns:a16="http://schemas.microsoft.com/office/drawing/2014/main" id="{7CC9ECEA-6268-6974-804E-5E9DC90B7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621" y="3680068"/>
            <a:ext cx="1190757" cy="696569"/>
          </a:xfrm>
          <a:prstGeom prst="rect">
            <a:avLst/>
          </a:prstGeom>
        </p:spPr>
      </p:pic>
      <p:pic>
        <p:nvPicPr>
          <p:cNvPr id="7" name="Picture 6" descr="scikit-learn SVG and transparent PNG icons | TechIcons">
            <a:extLst>
              <a:ext uri="{FF2B5EF4-FFF2-40B4-BE49-F238E27FC236}">
                <a16:creationId xmlns:a16="http://schemas.microsoft.com/office/drawing/2014/main" id="{CE53915B-9416-868A-9325-EF8E1558B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075" y="4912772"/>
            <a:ext cx="949522" cy="893668"/>
          </a:xfrm>
          <a:prstGeom prst="rect">
            <a:avLst/>
          </a:prstGeom>
        </p:spPr>
      </p:pic>
      <p:pic>
        <p:nvPicPr>
          <p:cNvPr id="8" name="Picture 7" descr="Unleash the Power of YOLO v8: Object Detection Done Right">
            <a:extLst>
              <a:ext uri="{FF2B5EF4-FFF2-40B4-BE49-F238E27FC236}">
                <a16:creationId xmlns:a16="http://schemas.microsoft.com/office/drawing/2014/main" id="{7AE89D0B-19CA-F49A-EE91-3F5BB15C77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8104" y="4931846"/>
            <a:ext cx="1238515" cy="836308"/>
          </a:xfrm>
          <a:prstGeom prst="rect">
            <a:avLst/>
          </a:prstGeom>
        </p:spPr>
      </p:pic>
      <p:pic>
        <p:nvPicPr>
          <p:cNvPr id="6" name="Picture 5" descr="AI Workflow Automation Platform &amp; Tools - n8n">
            <a:extLst>
              <a:ext uri="{FF2B5EF4-FFF2-40B4-BE49-F238E27FC236}">
                <a16:creationId xmlns:a16="http://schemas.microsoft.com/office/drawing/2014/main" id="{B1B98D0F-C126-6FB9-7A41-11DDA0CA1F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0240" y="3674233"/>
            <a:ext cx="1289795" cy="7515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7F0338-8ED8-B956-B566-24627BD4185A}"/>
              </a:ext>
            </a:extLst>
          </p:cNvPr>
          <p:cNvSpPr txBox="1"/>
          <p:nvPr/>
        </p:nvSpPr>
        <p:spPr>
          <a:xfrm>
            <a:off x="11053328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6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C14E6-C92D-DABE-3BE5-464A400F3E2A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10;p1">
            <a:extLst>
              <a:ext uri="{FF2B5EF4-FFF2-40B4-BE49-F238E27FC236}">
                <a16:creationId xmlns:a16="http://schemas.microsoft.com/office/drawing/2014/main" id="{A712D1F6-B283-E923-4696-6682632632BE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8543838" y="6354099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System Pipeline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1700000"/>
            <a:ext cx="11000000" cy="7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8640" y="1700000"/>
            <a:ext cx="100000" cy="70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8640" y="18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1. DATA CAPTURE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8640" y="1800000"/>
            <a:ext cx="2000000" cy="50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📹 WebRTC Camera Frame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5948640" y="2400000"/>
            <a:ext cx="150000" cy="15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48640" y="2550000"/>
            <a:ext cx="11000000" cy="14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48640" y="2550000"/>
            <a:ext cx="100000" cy="1400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8640" y="27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2. AI MODELS &amp; CV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48640" y="2700000"/>
            <a:ext cx="2000000" cy="45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MediaPipe Landmarks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3998640" y="3150000"/>
            <a:ext cx="100000" cy="150000"/>
          </a:xfrm>
          <a:prstGeom prst="downArrow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2548640" y="3300000"/>
            <a:ext cx="1400000" cy="45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23" b="1">
                <a:solidFill>
                  <a:srgbClr val="FFFFFF"/>
                </a:solidFill>
              </a:rPr>
              <a:t>Focus Classifier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48640" y="3300000"/>
            <a:ext cx="1400000" cy="45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23" b="1">
                <a:solidFill>
                  <a:srgbClr val="FFFFFF"/>
                </a:solidFill>
              </a:rPr>
              <a:t>Liveness Detector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48640" y="3000000"/>
            <a:ext cx="1600000" cy="5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DeepFace
Face Recognition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48640" y="2700000"/>
            <a:ext cx="2000000" cy="45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YOLOv8 Phone Detector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9098640" y="3150000"/>
            <a:ext cx="100000" cy="150000"/>
          </a:xfrm>
          <a:prstGeom prst="downArrow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148640" y="3300000"/>
            <a:ext cx="2000000" cy="45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23" b="1">
                <a:solidFill>
                  <a:srgbClr val="FFFFFF"/>
                </a:solidFill>
              </a:rPr>
              <a:t>Nearest Face Match</a:t>
            </a:r>
          </a:p>
        </p:txBody>
      </p:sp>
      <p:sp>
        <p:nvSpPr>
          <p:cNvPr id="61" name="Down Arrow 60"/>
          <p:cNvSpPr/>
          <p:nvPr/>
        </p:nvSpPr>
        <p:spPr>
          <a:xfrm>
            <a:off x="5948640" y="3950000"/>
            <a:ext cx="150000" cy="150000"/>
          </a:xfrm>
          <a:prstGeom prst="downArrow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48640" y="4100000"/>
            <a:ext cx="11000000" cy="7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100000"/>
            <a:ext cx="100000" cy="700000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8640" y="42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3. AGGREGATION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48640" y="4200000"/>
            <a:ext cx="4000000" cy="500000"/>
          </a:xfrm>
          <a:prstGeom prst="round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A1A1A"/>
                </a:solidFill>
              </a:rPr>
              <a:t>PersonState Manager (3/sec Majority Vote)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5948640" y="4800000"/>
            <a:ext cx="150000" cy="150000"/>
          </a:xfrm>
          <a:prstGeom prst="downArrow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48640" y="4950000"/>
            <a:ext cx="11000000" cy="7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48640" y="4950000"/>
            <a:ext cx="100000" cy="70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98640" y="51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4. OUTPUT &amp; ANALYTICS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48640" y="5050000"/>
            <a:ext cx="2000000" cy="50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Live Dashboard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48640" y="5050000"/>
            <a:ext cx="2000000" cy="50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Session CSV &amp; Charts + n8n Automation (Email/Sheets)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EDFF3-AA0E-E6C7-49FF-B6C09E058E63}"/>
              </a:ext>
            </a:extLst>
          </p:cNvPr>
          <p:cNvSpPr txBox="1"/>
          <p:nvPr/>
        </p:nvSpPr>
        <p:spPr>
          <a:xfrm>
            <a:off x="11053328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7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D2080-8181-541A-10A8-21E9D1EB5881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10;p1">
            <a:extLst>
              <a:ext uri="{FF2B5EF4-FFF2-40B4-BE49-F238E27FC236}">
                <a16:creationId xmlns:a16="http://schemas.microsoft.com/office/drawing/2014/main" id="{DF873828-40E8-E180-0C66-4EDD64EAE6D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8543838" y="6354099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End Users &amp; Key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7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Target End Users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100000"/>
            <a:ext cx="1500000" cy="28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2100000"/>
            <a:ext cx="1500000" cy="100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2300000"/>
            <a:ext cx="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49"/>
              <a:t>👨‍🏫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640" y="30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A1A1A"/>
                </a:solidFill>
              </a:rPr>
              <a:t>Instructors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640" y="3500000"/>
            <a:ext cx="1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dirty="0">
                <a:solidFill>
                  <a:srgbClr val="757575"/>
                </a:solidFill>
              </a:rPr>
              <a:t>Track student engagement during lectures.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8640" y="2100000"/>
            <a:ext cx="1500000" cy="28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48640" y="2100000"/>
            <a:ext cx="1500000" cy="10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48640" y="2300000"/>
            <a:ext cx="1500000" cy="576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149" dirty="0"/>
              <a:t>👨🏻‍💼</a:t>
            </a:r>
            <a:endParaRPr sz="3149" dirty="0"/>
          </a:p>
        </p:txBody>
      </p:sp>
      <p:sp>
        <p:nvSpPr>
          <p:cNvPr id="44" name="TextBox 43"/>
          <p:cNvSpPr txBox="1"/>
          <p:nvPr/>
        </p:nvSpPr>
        <p:spPr>
          <a:xfrm>
            <a:off x="2348640" y="3000000"/>
            <a:ext cx="130000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50" b="1" dirty="0">
                <a:solidFill>
                  <a:srgbClr val="1A1A1A"/>
                </a:solidFill>
              </a:rPr>
              <a:t>Meetings</a:t>
            </a:r>
            <a:endParaRPr sz="1450" b="1" dirty="0">
              <a:solidFill>
                <a:srgbClr val="1A1A1A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348640" y="3500000"/>
            <a:ext cx="1300000" cy="601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2" dirty="0">
                <a:solidFill>
                  <a:srgbClr val="757575"/>
                </a:solidFill>
              </a:rPr>
              <a:t>Track people engagement during meeting.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48640" y="2100000"/>
            <a:ext cx="1500000" cy="28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948640" y="2100000"/>
            <a:ext cx="1500000" cy="100000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48640" y="2300000"/>
            <a:ext cx="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49"/>
              <a:t>🏛️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8640" y="30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A1A1A"/>
                </a:solidFill>
              </a:rPr>
              <a:t>Institutions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8640" y="3500000"/>
            <a:ext cx="1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>
                <a:solidFill>
                  <a:srgbClr val="757575"/>
                </a:solidFill>
              </a:rPr>
              <a:t>Generate attendance &amp; focus evaluation reports.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00000" y="17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Core Features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00000" y="2100000"/>
            <a:ext cx="24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350000" y="2250000"/>
            <a:ext cx="500000" cy="50000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00000" y="230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Multi-Person Tracking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00000" y="2100000"/>
            <a:ext cx="24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950000" y="2250000"/>
            <a:ext cx="500000" cy="50000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0000" y="230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Focus Classification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00000" y="3100000"/>
            <a:ext cx="24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350000" y="3250000"/>
            <a:ext cx="500000" cy="50000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00000" y="330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Phone Attribution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00000" y="3100000"/>
            <a:ext cx="24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950000" y="3250000"/>
            <a:ext cx="500000" cy="50000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🛡️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0000" y="330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Anti-Spoofing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00000" y="4100000"/>
            <a:ext cx="24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350000" y="4250000"/>
            <a:ext cx="500000" cy="50000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00000" y="430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Face Recognition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00000" y="4100000"/>
            <a:ext cx="24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950000" y="4250000"/>
            <a:ext cx="500000" cy="50000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📊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0000" y="430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Session Analytics &amp; n8n Automation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21D6B-DA30-4EC7-A81D-71694775BC0C}"/>
              </a:ext>
            </a:extLst>
          </p:cNvPr>
          <p:cNvSpPr txBox="1"/>
          <p:nvPr/>
        </p:nvSpPr>
        <p:spPr>
          <a:xfrm>
            <a:off x="11053328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8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8BA91-9091-AE0E-BFAE-95CDDDF031A7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Feature Extraction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00000" y="1600000"/>
            <a:ext cx="3800000" cy="42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🧠 MediaPipe FaceLandmarker</a:t>
            </a:r>
          </a:p>
        </p:txBody>
      </p:sp>
      <p:sp>
        <p:nvSpPr>
          <p:cNvPr id="4" name="Down Arrow 3"/>
          <p:cNvSpPr/>
          <p:nvPr/>
        </p:nvSpPr>
        <p:spPr>
          <a:xfrm>
            <a:off x="6000000" y="2020000"/>
            <a:ext cx="219456" cy="22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00000" y="2280000"/>
            <a:ext cx="3800000" cy="42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478 Facial Landmarks per Face</a:t>
            </a:r>
          </a:p>
        </p:txBody>
      </p:sp>
      <p:sp>
        <p:nvSpPr>
          <p:cNvPr id="6" name="Down Arrow 5"/>
          <p:cNvSpPr/>
          <p:nvPr/>
        </p:nvSpPr>
        <p:spPr>
          <a:xfrm>
            <a:off x="6000000" y="2700000"/>
            <a:ext cx="219456" cy="22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00000" y="2980000"/>
            <a:ext cx="1800000" cy="36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0000" y="2980000"/>
            <a:ext cx="1800000" cy="36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Yaw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0000" y="2980000"/>
            <a:ext cx="1800000" cy="36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Pitch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0000" y="2980000"/>
            <a:ext cx="1800000" cy="36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Roll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2840" y="4947845"/>
            <a:ext cx="1800000" cy="36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Gaze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00000" y="3380000"/>
            <a:ext cx="219456" cy="22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00000" y="3650000"/>
            <a:ext cx="3800000" cy="42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Feature Vector (5 signals)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000000" y="4070000"/>
            <a:ext cx="219456" cy="22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00000" y="4340000"/>
            <a:ext cx="3800000" cy="42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🌳 Random Forest Classifier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0000" y="4760000"/>
            <a:ext cx="219456" cy="22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00000" y="5030000"/>
            <a:ext cx="3000000" cy="420000"/>
          </a:xfrm>
          <a:prstGeom prst="round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1A1A1A"/>
                </a:solidFill>
              </a:rPr>
              <a:t>Focused / Distracted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700000"/>
            <a:ext cx="182880" cy="18288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680000"/>
            <a:ext cx="1371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AI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5700000"/>
            <a:ext cx="182880" cy="18288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5680000"/>
            <a:ext cx="1371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Processing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5700000"/>
            <a:ext cx="182880" cy="182880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83480" y="5680000"/>
            <a:ext cx="1371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Features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5700000"/>
            <a:ext cx="182880" cy="182880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95160" y="5680000"/>
            <a:ext cx="1371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Output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012840" y="3567845"/>
            <a:ext cx="2926848" cy="101099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12840" y="3567845"/>
            <a:ext cx="100000" cy="1010998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50000" y="3640997"/>
            <a:ext cx="27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⚙ 3-Second Calibration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0000" y="3871045"/>
            <a:ext cx="2789688" cy="5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Per-session baseline offset subtracted from raw features before classification.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12840" y="4667844"/>
            <a:ext cx="2926848" cy="1012155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12840" y="4667845"/>
            <a:ext cx="73152" cy="1012154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50000" y="4740997"/>
            <a:ext cx="27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📊 5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0000" y="4971045"/>
            <a:ext cx="2789688" cy="5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EAR (Eye Aspect Ratio)
Yaw · Pitch · Roll
Gaze (iris position)</a:t>
            </a:r>
          </a:p>
        </p:txBody>
      </p: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9ED0A997-1713-C421-AD34-03973A537BEA}"/>
              </a:ext>
            </a:extLst>
          </p:cNvPr>
          <p:cNvSpPr/>
          <p:nvPr/>
        </p:nvSpPr>
        <p:spPr>
          <a:xfrm>
            <a:off x="9400000" y="2961476"/>
            <a:ext cx="1800000" cy="36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Gaze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E4E36B-C40F-2301-5BF6-AC8B5E949D2C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9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5B8BD8-F7D7-BB36-D844-1E1A160A1322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47954"/>
                </a:solidFill>
                <a:latin typeface="Calibri"/>
              </a:defRPr>
            </a:pPr>
            <a:r>
              <a:rPr sz="2800" b="1" dirty="0">
                <a:solidFill>
                  <a:srgbClr val="047954"/>
                </a:solidFill>
              </a:rPr>
              <a:t>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14160" y="1240561"/>
            <a:ext cx="50292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047954"/>
                </a:solidFill>
                <a:latin typeface="Calibri"/>
              </a:defRPr>
            </a:pPr>
            <a:r>
              <a:rPr sz="1800" dirty="0"/>
              <a:t>Sample</a:t>
            </a:r>
            <a:r>
              <a:rPr lang="en-US" sz="1800" dirty="0"/>
              <a:t> features clean csv</a:t>
            </a:r>
            <a:endParaRPr sz="1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502961"/>
              </p:ext>
            </p:extLst>
          </p:nvPr>
        </p:nvGraphicFramePr>
        <p:xfrm>
          <a:off x="6412647" y="1813477"/>
          <a:ext cx="4116375" cy="1443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4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6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06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person</a:t>
                      </a:r>
                    </a:p>
                  </a:txBody>
                  <a:tcPr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Ear</a:t>
                      </a:r>
                      <a:endParaRPr dirty="0"/>
                    </a:p>
                  </a:txBody>
                  <a:tcPr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Yaw</a:t>
                      </a:r>
                      <a:endParaRPr dirty="0"/>
                    </a:p>
                  </a:txBody>
                  <a:tcPr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pitch</a:t>
                      </a:r>
                      <a:endParaRPr dirty="0"/>
                    </a:p>
                  </a:txBody>
                  <a:tcPr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Roll</a:t>
                      </a:r>
                    </a:p>
                  </a:txBody>
                  <a:tcPr>
                    <a:solidFill>
                      <a:srgbClr val="047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8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3.20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Mohamed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0.26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-0.53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4.66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-0.01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9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Mo</a:t>
                      </a:r>
                      <a:r>
                        <a:rPr lang="ar-EG" dirty="0"/>
                        <a:t>’</a:t>
                      </a:r>
                      <a:r>
                        <a:rPr lang="en-US" dirty="0"/>
                        <a:t>men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0.33.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-0.49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7.49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0.02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33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3.87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Moaz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0.18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2.67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dirty="0"/>
                        <a:t>-</a:t>
                      </a:r>
                      <a:r>
                        <a:rPr lang="en-US" dirty="0"/>
                        <a:t>-2.79</a:t>
                      </a:r>
                    </a:p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0.27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Google Shape;110;p1">
            <a:extLst>
              <a:ext uri="{FF2B5EF4-FFF2-40B4-BE49-F238E27FC236}">
                <a16:creationId xmlns:a16="http://schemas.microsoft.com/office/drawing/2014/main" id="{B8742E10-8285-1EA9-4359-7E1F92344DCD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8543838" y="6354099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ounded Rectangle 9"/>
          <p:cNvSpPr/>
          <p:nvPr/>
        </p:nvSpPr>
        <p:spPr>
          <a:xfrm>
            <a:off x="548639" y="1691640"/>
            <a:ext cx="5800000" cy="11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39" y="1691640"/>
            <a:ext cx="73152" cy="1100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799" y="1764792"/>
            <a:ext cx="55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1A1A1A"/>
                </a:solidFill>
              </a:rPr>
              <a:t>Training Dataset (features_clean.csv)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99" y="1994840"/>
            <a:ext cx="5589688" cy="7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Rows: Labeled face images (Focused / Distracted)
Features: EAR · Yaw · Pitch · Roll · Gaze
Label: Binary — 1 (Focused) / 0 (Distracted)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39" y="2900000"/>
            <a:ext cx="5800000" cy="11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39" y="2900000"/>
            <a:ext cx="73152" cy="110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799" y="2973152"/>
            <a:ext cx="55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Session Output CSV &amp; n8n Webhooks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" y="3203200"/>
            <a:ext cx="5589688" cy="7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Columns: time · person_id · name · focus_pct · status · phone
Generated per-session &amp; synced via n8n to Google Sheets
Used for post-session analytics and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39" y="4110000"/>
            <a:ext cx="5800000" cy="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39" y="4110000"/>
            <a:ext cx="73152" cy="900000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799" y="4183152"/>
            <a:ext cx="55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Face Embeddings (embeddings.pkl)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" y="4413200"/>
            <a:ext cx="5589688" cy="5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128-D vectors per registered student
Serialized with pickle for fast cosine-similarity 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39" y="5120000"/>
            <a:ext cx="5800000" cy="8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39" y="5120000"/>
            <a:ext cx="73152" cy="800000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799" y="5193152"/>
            <a:ext cx="55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Analytics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799" y="5423200"/>
            <a:ext cx="5589688" cy="4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Per-person pie charts + focus line charts
Matplotlib-generated visualizations per session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CAF9D5-0AD4-3916-7DA8-0B021549A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960111"/>
              </p:ext>
            </p:extLst>
          </p:nvPr>
        </p:nvGraphicFramePr>
        <p:xfrm>
          <a:off x="11201806" y="1821722"/>
          <a:ext cx="864537" cy="1426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537">
                  <a:extLst>
                    <a:ext uri="{9D8B030D-6E8A-4147-A177-3AD203B41FA5}">
                      <a16:colId xmlns:a16="http://schemas.microsoft.com/office/drawing/2014/main" val="1474113365"/>
                    </a:ext>
                  </a:extLst>
                </a:gridCol>
              </a:tblGrid>
              <a:tr h="2971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state</a:t>
                      </a:r>
                    </a:p>
                  </a:txBody>
                  <a:tcPr>
                    <a:solidFill>
                      <a:srgbClr val="047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610084"/>
                  </a:ext>
                </a:extLst>
              </a:tr>
              <a:tr h="38699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focused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320867"/>
                  </a:ext>
                </a:extLst>
              </a:tr>
              <a:tr h="35531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dirty="0"/>
                        <a:t>distracted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8932"/>
                  </a:ext>
                </a:extLst>
              </a:tr>
              <a:tr h="3868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dirty="0"/>
                        <a:t>focused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69959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1E836F5-319D-8DEB-A6CC-ADF338686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970140"/>
              </p:ext>
            </p:extLst>
          </p:nvPr>
        </p:nvGraphicFramePr>
        <p:xfrm>
          <a:off x="10469870" y="1821722"/>
          <a:ext cx="731936" cy="1425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936">
                  <a:extLst>
                    <a:ext uri="{9D8B030D-6E8A-4147-A177-3AD203B41FA5}">
                      <a16:colId xmlns:a16="http://schemas.microsoft.com/office/drawing/2014/main" val="1474113365"/>
                    </a:ext>
                  </a:extLst>
                </a:gridCol>
              </a:tblGrid>
              <a:tr h="29662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Gaze</a:t>
                      </a:r>
                      <a:endParaRPr dirty="0"/>
                    </a:p>
                  </a:txBody>
                  <a:tcPr>
                    <a:solidFill>
                      <a:srgbClr val="047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610084"/>
                  </a:ext>
                </a:extLst>
              </a:tr>
              <a:tr h="3888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.048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320867"/>
                  </a:ext>
                </a:extLst>
              </a:tr>
              <a:tr h="34412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0.31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8932"/>
                  </a:ext>
                </a:extLst>
              </a:tr>
              <a:tr h="39612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0.45</a:t>
                      </a:r>
                      <a:endParaRPr dirty="0"/>
                    </a:p>
                  </a:txBody>
                  <a:tcPr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6995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BA30C9-A877-8A8C-0686-45F030D7E85F}"/>
              </a:ext>
            </a:extLst>
          </p:cNvPr>
          <p:cNvSpPr txBox="1"/>
          <p:nvPr/>
        </p:nvSpPr>
        <p:spPr>
          <a:xfrm>
            <a:off x="11053328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DD582-0F6E-8E40-AD67-CDA76F0012EB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Model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000"/>
            <a:ext cx="9144000" cy="35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8640" y="195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8640" y="195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640" y="195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8640" y="195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8640" y="195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20000"/>
            <a:ext cx="9144000" cy="3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640" y="2380000"/>
            <a:ext cx="1600000" cy="26035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  <a:effectLst/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</a:rPr>
              <a:t>RandomForest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8640" y="23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en-US" sz="1100">
              <a:solidFill>
                <a:srgbClr val="75757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48640" y="23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en-US" sz="1100">
              <a:solidFill>
                <a:srgbClr val="75757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48640" y="23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en-US" sz="1100">
              <a:solidFill>
                <a:srgbClr val="75757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48640" y="2380000"/>
            <a:ext cx="16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en-US" sz="1100">
              <a:solidFill>
                <a:srgbClr val="757575"/>
              </a:solidFill>
            </a:endParaRPr>
          </a:p>
          <a:p>
            <a:pPr algn="ctr"/>
            <a:endParaRPr lang="en-US" altLang="en-US" sz="1100">
              <a:solidFill>
                <a:srgbClr val="757575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005" y="2720000"/>
            <a:ext cx="9144000" cy="3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640" y="27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>
                <a:solidFill>
                  <a:srgbClr val="757575"/>
                </a:solidFill>
              </a:rPr>
              <a:t>SVM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8640" y="27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en-US" sz="1100">
              <a:solidFill>
                <a:srgbClr val="75757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48640" y="27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en-US" sz="1100">
              <a:solidFill>
                <a:srgbClr val="757575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48640" y="27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en-US" sz="1100">
              <a:solidFill>
                <a:srgbClr val="757575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3120000"/>
            <a:ext cx="9143365" cy="3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8640" y="31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</a:rPr>
              <a:t>XGBoost</a:t>
            </a:r>
            <a:endParaRPr lang="ar-SA" altLang="en-US" sz="1100">
              <a:solidFill>
                <a:srgbClr val="757575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48640" y="3180000"/>
            <a:ext cx="16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0.9094</a:t>
            </a:r>
            <a:endParaRPr lang="ar-SA" altLang="en-US" sz="1100">
              <a:solidFill>
                <a:srgbClr val="757575"/>
              </a:solidFill>
            </a:endParaRPr>
          </a:p>
          <a:p>
            <a:pPr algn="ctr"/>
            <a:endParaRPr sz="1100">
              <a:solidFill>
                <a:srgbClr val="757575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48640" y="31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0.9070</a:t>
            </a:r>
            <a:endParaRPr sz="1100">
              <a:solidFill>
                <a:srgbClr val="757575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48640" y="31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0.9070</a:t>
            </a:r>
            <a:endParaRPr sz="1100">
              <a:solidFill>
                <a:srgbClr val="757575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48640" y="31800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0.9070</a:t>
            </a:r>
            <a:endParaRPr sz="1100">
              <a:solidFill>
                <a:srgbClr val="757575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3900000"/>
            <a:ext cx="3500000" cy="24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i="1">
                <a:solidFill>
                  <a:srgbClr val="757575"/>
                </a:solidFill>
              </a:rPr>
              <a:t>📷 Confusion Matrix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0000" y="3900000"/>
            <a:ext cx="3500000" cy="24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i="1">
                <a:solidFill>
                  <a:srgbClr val="757575"/>
                </a:solidFill>
              </a:rPr>
              <a:t>📷 ROC Curve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0000" y="3900000"/>
            <a:ext cx="3500000" cy="24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i="1">
                <a:solidFill>
                  <a:srgbClr val="757575"/>
                </a:solidFill>
              </a:rPr>
              <a:t>📷 Feature Importance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ar-EG" dirty="0"/>
              <a:t>1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rcRect t="-25" r="-63"/>
          <a:stretch>
            <a:fillRect/>
          </a:stretch>
        </p:blipFill>
        <p:spPr>
          <a:xfrm>
            <a:off x="469265" y="3862705"/>
            <a:ext cx="3647440" cy="248094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855" y="3872230"/>
            <a:ext cx="3547110" cy="262001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165" y="3853815"/>
            <a:ext cx="3496945" cy="2465070"/>
          </a:xfrm>
          <a:prstGeom prst="rect">
            <a:avLst/>
          </a:prstGeom>
        </p:spPr>
      </p:pic>
      <p:sp>
        <p:nvSpPr>
          <p:cNvPr id="41" name="TextBox 30"/>
          <p:cNvSpPr txBox="1"/>
          <p:nvPr/>
        </p:nvSpPr>
        <p:spPr>
          <a:xfrm>
            <a:off x="7847145" y="23799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0.9281</a:t>
            </a:r>
            <a:endParaRPr sz="1100">
              <a:solidFill>
                <a:srgbClr val="757575"/>
              </a:solidFill>
            </a:endParaRPr>
          </a:p>
        </p:txBody>
      </p:sp>
      <p:sp>
        <p:nvSpPr>
          <p:cNvPr id="42" name="TextBox 30"/>
          <p:cNvSpPr txBox="1"/>
          <p:nvPr/>
        </p:nvSpPr>
        <p:spPr>
          <a:xfrm>
            <a:off x="4248600" y="239006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0.9288</a:t>
            </a:r>
            <a:endParaRPr sz="1100">
              <a:solidFill>
                <a:srgbClr val="757575"/>
              </a:solidFill>
            </a:endParaRPr>
          </a:p>
        </p:txBody>
      </p:sp>
      <p:sp>
        <p:nvSpPr>
          <p:cNvPr id="43" name="TextBox 30"/>
          <p:cNvSpPr txBox="1"/>
          <p:nvPr/>
        </p:nvSpPr>
        <p:spPr>
          <a:xfrm>
            <a:off x="4248600" y="277995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0.8911</a:t>
            </a:r>
            <a:endParaRPr sz="1100">
              <a:solidFill>
                <a:srgbClr val="757575"/>
              </a:solidFill>
            </a:endParaRPr>
          </a:p>
        </p:txBody>
      </p:sp>
      <p:sp>
        <p:nvSpPr>
          <p:cNvPr id="44" name="TextBox 30"/>
          <p:cNvSpPr txBox="1"/>
          <p:nvPr/>
        </p:nvSpPr>
        <p:spPr>
          <a:xfrm>
            <a:off x="2447740" y="239006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</a:rPr>
              <a:t>0.9281</a:t>
            </a:r>
          </a:p>
        </p:txBody>
      </p:sp>
      <p:sp>
        <p:nvSpPr>
          <p:cNvPr id="45" name="TextBox 30"/>
          <p:cNvSpPr txBox="1"/>
          <p:nvPr/>
        </p:nvSpPr>
        <p:spPr>
          <a:xfrm>
            <a:off x="2448375" y="277995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</a:rPr>
              <a:t> 0.8906</a:t>
            </a:r>
          </a:p>
        </p:txBody>
      </p:sp>
      <p:sp>
        <p:nvSpPr>
          <p:cNvPr id="46" name="TextBox 30"/>
          <p:cNvSpPr txBox="1"/>
          <p:nvPr/>
        </p:nvSpPr>
        <p:spPr>
          <a:xfrm>
            <a:off x="7847780" y="277995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0.8906</a:t>
            </a:r>
            <a:endParaRPr sz="1100">
              <a:solidFill>
                <a:srgbClr val="757575"/>
              </a:solidFill>
            </a:endParaRPr>
          </a:p>
        </p:txBody>
      </p:sp>
      <p:sp>
        <p:nvSpPr>
          <p:cNvPr id="47" name="TextBox 30"/>
          <p:cNvSpPr txBox="1"/>
          <p:nvPr/>
        </p:nvSpPr>
        <p:spPr>
          <a:xfrm>
            <a:off x="6048190" y="237990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0.9281</a:t>
            </a:r>
            <a:endParaRPr sz="1100">
              <a:solidFill>
                <a:srgbClr val="757575"/>
              </a:solidFill>
            </a:endParaRPr>
          </a:p>
        </p:txBody>
      </p:sp>
      <p:sp>
        <p:nvSpPr>
          <p:cNvPr id="48" name="TextBox 30"/>
          <p:cNvSpPr txBox="1"/>
          <p:nvPr/>
        </p:nvSpPr>
        <p:spPr>
          <a:xfrm>
            <a:off x="6048190" y="2779950"/>
            <a:ext cx="16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100">
                <a:solidFill>
                  <a:srgbClr val="757575"/>
                </a:solidFill>
                <a:sym typeface="+mn-ea"/>
              </a:rPr>
              <a:t>0.8906</a:t>
            </a:r>
            <a:endParaRPr sz="1100">
              <a:solidFill>
                <a:srgbClr val="75757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Face Recognition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4903" y="2772951"/>
            <a:ext cx="1400000" cy="60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📹
Videos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84903" y="2981511"/>
            <a:ext cx="2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84903" y="2772951"/>
            <a:ext cx="1400000" cy="60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Frames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84903" y="2981511"/>
            <a:ext cx="2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84903" y="2772951"/>
            <a:ext cx="1400000" cy="6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DeepFace
FaceNet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84903" y="2981511"/>
            <a:ext cx="2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84903" y="2772951"/>
            <a:ext cx="1400000" cy="60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Face
Embeddings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84903" y="2981511"/>
            <a:ext cx="2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84903" y="2772951"/>
            <a:ext cx="1400000" cy="600000"/>
          </a:xfrm>
          <a:prstGeom prst="round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embeddings
.pkl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84903" y="2981511"/>
            <a:ext cx="2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284903" y="2772951"/>
            <a:ext cx="1400000" cy="6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Real-time
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</a:rPr>
              <a:t>Pipeline: Record short video clips per student  →  Extract frames  →  Generate 128-D embeddings  →  Store in .pkl  →  Match in real-time via cosine similarity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0000"/>
            <a:ext cx="3500000" cy="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200000"/>
            <a:ext cx="73152" cy="900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273152"/>
            <a:ext cx="32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DeepFace + FaceNet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03200"/>
            <a:ext cx="3289688" cy="5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Pre-trained CNN generates 128-dimensional face 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0000" y="4200000"/>
            <a:ext cx="3500000" cy="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00000" y="4200000"/>
            <a:ext cx="73152" cy="90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7160" y="4273152"/>
            <a:ext cx="32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Cosine Similarity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7160" y="4503200"/>
            <a:ext cx="32896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rgbClr val="757575"/>
                </a:solidFill>
              </a:rPr>
              <a:t>Threshold: </a:t>
            </a:r>
            <a:r>
              <a:rPr lang="ar-EG" sz="1300" dirty="0">
                <a:solidFill>
                  <a:srgbClr val="757575"/>
                </a:solidFill>
              </a:rPr>
              <a:t>0.9</a:t>
            </a:r>
            <a:r>
              <a:rPr sz="1300" dirty="0">
                <a:solidFill>
                  <a:srgbClr val="757575"/>
                </a:solidFill>
              </a:rPr>
              <a:t> for identity matching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0000" y="4200000"/>
            <a:ext cx="3500000" cy="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50000" y="4200000"/>
            <a:ext cx="73152" cy="900000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7160" y="4273152"/>
            <a:ext cx="32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Embedding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7160" y="4503200"/>
            <a:ext cx="3289688" cy="5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Serialized with pickle for fast loading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839268F-F4B7-F9AD-D756-820DDBA1876F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ar-EG" dirty="0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E13E0E-CD3F-3820-AF15-DC20798BE360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Phone Attribution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0000" y="1800000"/>
            <a:ext cx="2600000" cy="5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📱 YOLOv8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000" y="2800000"/>
            <a:ext cx="2600000" cy="5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👤 Face Detection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00000" y="2000000"/>
            <a:ext cx="4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"/>
          <p:cNvSpPr/>
          <p:nvPr/>
        </p:nvSpPr>
        <p:spPr>
          <a:xfrm>
            <a:off x="3600000" y="3000000"/>
            <a:ext cx="4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00000" y="2200000"/>
            <a:ext cx="3200000" cy="70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📍 Nearest Face Matching
(Bounding Box Proximity)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00000" y="2500000"/>
            <a:ext cx="4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00000" y="2200000"/>
            <a:ext cx="3200000" cy="700000"/>
          </a:xfrm>
          <a:prstGeom prst="round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✅ Phone Owner
Assignment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00000"/>
            <a:ext cx="5200000" cy="10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800000"/>
            <a:ext cx="73152" cy="100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873152"/>
            <a:ext cx="49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03200"/>
            <a:ext cx="4989688" cy="6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YOLOv8 detects phone bounding boxes. The system calculates the distance to each tracked face and assigns the phone to the nearest person.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000" y="3800000"/>
            <a:ext cx="5200000" cy="10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00000" y="3800000"/>
            <a:ext cx="73152" cy="1000000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7160" y="3873152"/>
            <a:ext cx="49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Why Per-Person Attribution?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7160" y="4103200"/>
            <a:ext cx="4989688" cy="6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Unlike generic phone detection, our system knows WHO is using the phone — enabling fair, individual accountability.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00000" y="4980048"/>
            <a:ext cx="3427406" cy="1319952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62885A65-5D1A-E81C-CC44-0E7789C43A39}"/>
              </a:ext>
            </a:extLst>
          </p:cNvPr>
          <p:cNvSpPr/>
          <p:nvPr/>
        </p:nvSpPr>
        <p:spPr>
          <a:xfrm>
            <a:off x="6265234" y="4980048"/>
            <a:ext cx="3427406" cy="1319952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6EFA347-BCA0-D38B-9BD5-34369F75C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045" y="5061788"/>
            <a:ext cx="2212258" cy="11564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0C75D21-7B61-7BCD-99B2-F2E8F5503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641" y="5061788"/>
            <a:ext cx="2472836" cy="115647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A2CDFCC-5B1A-4653-7473-BBC49A8CE800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ar-EG" dirty="0"/>
              <a:t>3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DEF836-5131-4C8D-820D-9F7F5DB3708C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12440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47954"/>
                </a:solidFill>
              </a:rPr>
              <a:t>Anti-Spoofing (Liveness Detection)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00000" y="1800000"/>
            <a:ext cx="2600000" cy="5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👁 EAR Monitoring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00000" y="2000000"/>
            <a:ext cx="35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00000" y="1800000"/>
            <a:ext cx="2600000" cy="50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💡 Blink Detection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100000" y="1900000"/>
            <a:ext cx="35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50000" y="1772845"/>
            <a:ext cx="2000000" cy="45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FFFFFF"/>
                </a:solidFill>
              </a:rPr>
              <a:t>✅ Live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00000" y="2300000"/>
            <a:ext cx="219456" cy="28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00000" y="2650000"/>
            <a:ext cx="2600000" cy="4500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⚠ No Blink Detected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00000" y="3100000"/>
            <a:ext cx="219456" cy="28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00000" y="3450000"/>
            <a:ext cx="2600000" cy="45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⏳ Grace Period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00000" y="3900000"/>
            <a:ext cx="219456" cy="28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00000" y="4250000"/>
            <a:ext cx="2600000" cy="4500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>
                <a:solidFill>
                  <a:srgbClr val="FFFFFF"/>
                </a:solidFill>
              </a:rPr>
              <a:t>🚨 SPOOF DETECTED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00000"/>
            <a:ext cx="5200000" cy="9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5000000"/>
            <a:ext cx="73152" cy="950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073152"/>
            <a:ext cx="49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Adaptive EAR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03200"/>
            <a:ext cx="4989688" cy="59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3-second calibration captures personal baseline EAR. Blinks detected when EAR drops below threshold.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00000" y="5000000"/>
            <a:ext cx="5500000" cy="9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00000" y="5000000"/>
            <a:ext cx="73152" cy="95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7160" y="5073152"/>
            <a:ext cx="52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Grace Period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7160" y="5303200"/>
            <a:ext cx="5289688" cy="59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After initial liveness confirmation, if no blinks are detected for a configurable timeout, the system flags the face as SPOOF.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179219" y="2272845"/>
            <a:ext cx="3600000" cy="45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Parameters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79219" y="2772845"/>
            <a:ext cx="3600000" cy="3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9219" y="2822845"/>
            <a:ext cx="1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</a:rPr>
              <a:t>EAR Drop Threshold: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79219" y="2822845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757575"/>
                </a:solidFill>
              </a:rPr>
              <a:t>20% below median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9219" y="3112845"/>
            <a:ext cx="3600000" cy="3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9219" y="3162845"/>
            <a:ext cx="1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</a:rPr>
              <a:t>Absolute EAR Limit: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9219" y="3162845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757575"/>
                </a:solidFill>
              </a:rPr>
              <a:t>&lt; 0.24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9219" y="3452845"/>
            <a:ext cx="3600000" cy="3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9219" y="3502845"/>
            <a:ext cx="1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</a:rPr>
              <a:t>Grace Period: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9219" y="3502845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757575"/>
                </a:solidFill>
              </a:rPr>
              <a:t>18 samples (~6 sec)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9219" y="3792845"/>
            <a:ext cx="3600000" cy="3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9219" y="3842845"/>
            <a:ext cx="1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</a:rPr>
              <a:t>Liveness Timeout: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9219" y="3822845"/>
            <a:ext cx="160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dirty="0">
                <a:solidFill>
                  <a:srgbClr val="757575"/>
                </a:solidFill>
              </a:rPr>
              <a:t>150 samples (~50 sec)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79219" y="4132845"/>
            <a:ext cx="3600000" cy="3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00000" y="4172845"/>
            <a:ext cx="1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</a:rPr>
              <a:t>Min Blink Frames: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9219" y="4182845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757575"/>
                </a:solidFill>
              </a:rPr>
              <a:t>1 frame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79219" y="4472845"/>
            <a:ext cx="3600000" cy="3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9219" y="4522845"/>
            <a:ext cx="1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</a:rPr>
              <a:t>Max Blink Frames: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9219" y="4522845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757575"/>
                </a:solidFill>
              </a:rPr>
              <a:t>10 frames (~3 sec)</a:t>
            </a: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FB71B1F3-7BEA-3A45-FE1A-5ED30889382A}"/>
              </a:ext>
            </a:extLst>
          </p:cNvPr>
          <p:cNvSpPr/>
          <p:nvPr/>
        </p:nvSpPr>
        <p:spPr>
          <a:xfrm>
            <a:off x="412781" y="2765345"/>
            <a:ext cx="3687219" cy="17266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9B88046-48DD-238D-A824-84AAACFD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48" y="2808055"/>
            <a:ext cx="2831691" cy="159374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B58184B-4EBE-7F3B-A2E9-B1B43A9BD06E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ar-EG" dirty="0"/>
              <a:t>4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F6155F-AC02-5CA7-4E1A-CB4FE649AB5E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Multi-Person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000" y="1800000"/>
            <a:ext cx="2100000" cy="60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📷
Camera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00000" y="2050000"/>
            <a:ext cx="2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600000" y="1800000"/>
            <a:ext cx="2100000" cy="6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👥 Up to
4 Faces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00000" y="2050000"/>
            <a:ext cx="2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00000" y="1800000"/>
            <a:ext cx="2100000" cy="60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Independent
Tracking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00000" y="2050000"/>
            <a:ext cx="2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00000" y="1800000"/>
            <a:ext cx="2100000" cy="60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Per-Person
Focus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00000" y="2050000"/>
            <a:ext cx="200000" cy="182880"/>
          </a:xfrm>
          <a:prstGeom prst="right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00000" y="1800000"/>
            <a:ext cx="2100000" cy="600000"/>
          </a:xfrm>
          <a:prstGeom prst="round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📊 Per-Person
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00000"/>
            <a:ext cx="3600000" cy="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700000"/>
            <a:ext cx="73152" cy="900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73152"/>
            <a:ext cx="33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PersonState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03200"/>
            <a:ext cx="3389688" cy="5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Each detected face gets an independent state object tracking focus votes, blinks, and identity.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0000" y="2700000"/>
            <a:ext cx="3600000" cy="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00000" y="2700000"/>
            <a:ext cx="73152" cy="90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37160" y="2773152"/>
            <a:ext cx="33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Majority Vote Buffer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7160" y="3003200"/>
            <a:ext cx="3389688" cy="5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3 predictions/sec with rolling majority vote for stable, noise-resistant classification.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0000" y="2700000"/>
            <a:ext cx="3600000" cy="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50000" y="2700000"/>
            <a:ext cx="73152" cy="900000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7160" y="2773152"/>
            <a:ext cx="3389688" cy="2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1A"/>
                </a:solidFill>
              </a:rPr>
              <a:t>Independent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7160" y="3003200"/>
            <a:ext cx="3389688" cy="54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Each student gets individual focus %, session duration, and distraction breakdown.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0000" y="3900000"/>
            <a:ext cx="3868413" cy="22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7C0C867-CE09-8152-5182-A90465033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645" y="3992219"/>
            <a:ext cx="3470787" cy="1969660"/>
          </a:xfrm>
          <a:prstGeom prst="rect">
            <a:avLst/>
          </a:prstGeom>
        </p:spPr>
      </p:pic>
      <p:sp>
        <p:nvSpPr>
          <p:cNvPr id="26" name="Rounded Rectangle 17">
            <a:extLst>
              <a:ext uri="{FF2B5EF4-FFF2-40B4-BE49-F238E27FC236}">
                <a16:creationId xmlns:a16="http://schemas.microsoft.com/office/drawing/2014/main" id="{6FAC4D41-9B12-F628-3861-0409376874A0}"/>
              </a:ext>
            </a:extLst>
          </p:cNvPr>
          <p:cNvSpPr/>
          <p:nvPr/>
        </p:nvSpPr>
        <p:spPr>
          <a:xfrm>
            <a:off x="6452953" y="3877049"/>
            <a:ext cx="3868413" cy="22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72B2FC1-E0FC-0ED7-DB16-F70489B97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473" y="3953748"/>
            <a:ext cx="3337373" cy="200813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DFB69F1-4A33-E517-0622-12FB407C6B56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ar-EG" dirty="0"/>
              <a:t>5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268C04-7EEE-61FB-CA83-4AC0DD9B9797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47954"/>
                </a:solidFill>
                <a:latin typeface="Calibri"/>
              </a:defRPr>
            </a:pPr>
            <a:r>
              <a:rPr sz="2800" b="1" dirty="0">
                <a:solidFill>
                  <a:srgbClr val="047954"/>
                </a:solidFill>
              </a:rPr>
              <a:t>Live Application &amp; Testing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57400"/>
            <a:ext cx="36576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73352"/>
            <a:ext cx="41148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47954"/>
                </a:solidFill>
                <a:latin typeface="Calibri"/>
              </a:defRPr>
            </a:pPr>
            <a:r>
              <a:rPr sz="1800" dirty="0"/>
              <a:t>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114800" cy="641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Run </a:t>
            </a:r>
            <a:r>
              <a:rPr sz="1600" dirty="0" err="1"/>
              <a:t>py</a:t>
            </a:r>
            <a:r>
              <a:rPr sz="1600" dirty="0"/>
              <a:t> src/main.py — all models load automatically.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63240"/>
            <a:ext cx="36576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679192"/>
            <a:ext cx="41148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AB7D"/>
                </a:solidFill>
                <a:latin typeface="Calibri"/>
              </a:defRPr>
            </a:pPr>
            <a:r>
              <a:rPr sz="1800" dirty="0"/>
              <a:t>3-Second 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4114800" cy="641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System reads neutral head pose and EAR baseline to personalize predictions.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069080"/>
            <a:ext cx="36576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685032"/>
            <a:ext cx="41148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6EA8"/>
                </a:solidFill>
                <a:latin typeface="Calibri"/>
              </a:defRPr>
            </a:pPr>
            <a:r>
              <a:rPr sz="1800" dirty="0"/>
              <a:t>Real-Time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31920"/>
            <a:ext cx="4114800" cy="64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Each person gets a labeled bounding box updated 3× per second.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09160"/>
            <a:ext cx="365760" cy="365760"/>
          </a:xfrm>
          <a:prstGeom prst="ellipse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90872"/>
            <a:ext cx="41148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7B119"/>
                </a:solidFill>
                <a:latin typeface="Calibri"/>
              </a:defRPr>
            </a:pPr>
            <a:r>
              <a:rPr sz="1800" dirty="0"/>
              <a:t>Session End (press Q)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937760"/>
            <a:ext cx="4114800" cy="641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Timestamped CSV saved + per-person analytics charts displayed.</a:t>
            </a:r>
          </a:p>
        </p:txBody>
      </p:sp>
      <p:pic>
        <p:nvPicPr>
          <p:cNvPr id="26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8738178" y="6356191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Rounded Rectangle 26"/>
          <p:cNvSpPr/>
          <p:nvPr/>
        </p:nvSpPr>
        <p:spPr>
          <a:xfrm>
            <a:off x="5943600" y="1610032"/>
            <a:ext cx="5303520" cy="1742768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0" y="3533001"/>
            <a:ext cx="5303520" cy="12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943600" y="4913202"/>
            <a:ext cx="5303520" cy="12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2E76002-382D-AD1C-5A37-CE1C50D6F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124" y="1668331"/>
            <a:ext cx="4368472" cy="16057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933037-F6F5-9492-4BE3-CBB38131D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124" y="3583521"/>
            <a:ext cx="4368472" cy="10989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BC21427-2599-521B-96AC-F1C99CF12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577" y="4975990"/>
            <a:ext cx="2968851" cy="109557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E1697FF-A334-CF64-151B-2179041166B8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ar-EG" dirty="0"/>
              <a:t>6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4FBB3C-AB05-11D1-D809-C9F7C56962D4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Web Application Architecture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000000" y="1600000"/>
            <a:ext cx="17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50000" y="1600000"/>
            <a:ext cx="17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00000" y="1600000"/>
            <a:ext cx="17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550000" y="1600000"/>
            <a:ext cx="17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00000" y="3350490"/>
            <a:ext cx="17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850000" y="3350490"/>
            <a:ext cx="17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00000" y="3350490"/>
            <a:ext cx="17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550000" y="3350490"/>
            <a:ext cx="1700000" cy="11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1550000"/>
            <a:ext cx="3000000" cy="37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🌐 Browser (Client)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1938912" y="1920000"/>
            <a:ext cx="219456" cy="14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8640" y="2060000"/>
            <a:ext cx="3000000" cy="370000"/>
          </a:xfrm>
          <a:prstGeom prst="round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🎮 Streamlit + WebRTC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938912" y="2430000"/>
            <a:ext cx="219456" cy="14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48640" y="2570000"/>
            <a:ext cx="3000000" cy="370000"/>
          </a:xfrm>
          <a:prstGeom prst="round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🔒 Auth + SQLite DB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1938912" y="2940000"/>
            <a:ext cx="219456" cy="14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48640" y="3080000"/>
            <a:ext cx="3000000" cy="3700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📷 OpenCV Pipeline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938912" y="3450000"/>
            <a:ext cx="219456" cy="14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48640" y="3590000"/>
            <a:ext cx="3000000" cy="370000"/>
          </a:xfrm>
          <a:prstGeom prst="round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🧠 MediaPipe + AI Models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1938912" y="3960000"/>
            <a:ext cx="219456" cy="140000"/>
          </a:xfrm>
          <a:prstGeom prst="downArrow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48640" y="4100000"/>
            <a:ext cx="3000000" cy="370000"/>
          </a:xfrm>
          <a:prstGeom prst="round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2" b="1">
                <a:solidFill>
                  <a:srgbClr val="FFFFFF"/>
                </a:solidFill>
              </a:rPr>
              <a:t>📊 Dashboard, Reports &amp; n8n Automation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9FB26-92A3-C382-09EC-A0407A2C1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072" y="1672696"/>
            <a:ext cx="1527855" cy="909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D426D4-81C1-7967-29A2-43D728EF2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669" y="1672696"/>
            <a:ext cx="1278661" cy="9546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25F826-3AA0-878E-E401-608C54127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946" y="1735000"/>
            <a:ext cx="1340017" cy="873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BB2F26-2BBD-294C-5BA7-B1EDB9FF0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1111" y="1671132"/>
            <a:ext cx="1377778" cy="1000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CE0507-545C-8B63-0D16-80C1A664FB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9687" y="3536309"/>
            <a:ext cx="1320623" cy="711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EC8BD7-124C-6EAB-B2CD-5BB6126896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8999" y="3524525"/>
            <a:ext cx="1354356" cy="7626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3A4194-9B83-AF01-AD82-E71B8992AC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4946" y="3525355"/>
            <a:ext cx="1436007" cy="72207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EA83B9F-40FF-16D6-7014-082A8C65DD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1563" y="3524445"/>
            <a:ext cx="1337326" cy="7229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55E8B4-826A-012A-D3D6-A1C000AF2D43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ar-EG" dirty="0"/>
              <a:t>7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523CF-2F84-1712-01C0-845B7F281DAF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047954"/>
                </a:solidFill>
              </a:rPr>
              <a:t>n8n Automation Workflows</a:t>
            </a:r>
            <a:endParaRPr sz="2800" b="1" dirty="0">
              <a:solidFill>
                <a:srgbClr val="04795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7C9A6-C3C9-6043-0330-33D79891EC2A}"/>
              </a:ext>
            </a:extLst>
          </p:cNvPr>
          <p:cNvSpPr txBox="1"/>
          <p:nvPr/>
        </p:nvSpPr>
        <p:spPr>
          <a:xfrm>
            <a:off x="635000" y="1905000"/>
            <a:ext cx="6096000" cy="36933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Segoe UI" panose="020B0502040204020203" pitchFamily="34" charset="0"/>
              </a:rPr>
              <a:t>1. Session Data Aggregation</a:t>
            </a:r>
            <a:r>
              <a:rPr lang="en-US" sz="1800" dirty="0">
                <a:latin typeface="Segoe UI" panose="020B0502040204020203" pitchFamily="34" charset="0"/>
              </a:rPr>
              <a:t>
Triggered via webhook immediately upon session end. Receives student focus metrics and tracking data.
</a:t>
            </a:r>
            <a:r>
              <a:rPr lang="en-US" sz="1800" b="1" dirty="0">
                <a:solidFill>
                  <a:srgbClr val="C00000"/>
                </a:solidFill>
                <a:latin typeface="Segoe UI" panose="020B0502040204020203" pitchFamily="34" charset="0"/>
              </a:rPr>
              <a:t>2. Google Sheets Integration</a:t>
            </a:r>
            <a:r>
              <a:rPr lang="en-US" sz="1800" dirty="0">
                <a:latin typeface="Segoe UI" panose="020B0502040204020203" pitchFamily="34" charset="0"/>
              </a:rPr>
              <a:t>
Automatically formats and logs attendance, session duration, and average focus percentages directly into a structured Google Sheet for institutional records.
</a:t>
            </a:r>
            <a:r>
              <a:rPr lang="en-US" sz="1800" b="1" dirty="0">
                <a:solidFill>
                  <a:srgbClr val="00B050"/>
                </a:solidFill>
                <a:latin typeface="Segoe UI" panose="020B0502040204020203" pitchFamily="34" charset="0"/>
              </a:rPr>
              <a:t>3. Email Notifications</a:t>
            </a:r>
            <a:r>
              <a:rPr lang="en-US" sz="1800" dirty="0">
                <a:latin typeface="Segoe UI" panose="020B0502040204020203" pitchFamily="34" charset="0"/>
              </a:rPr>
              <a:t>
Generates and sends personalized feedback emails to students, including their individual performance, focus analysis, and any detected distractions during the session.</a:t>
            </a:r>
          </a:p>
        </p:txBody>
      </p:sp>
      <p:sp>
        <p:nvSpPr>
          <p:cNvPr id="4" name="Rounded Rectangle 26">
            <a:extLst>
              <a:ext uri="{FF2B5EF4-FFF2-40B4-BE49-F238E27FC236}">
                <a16:creationId xmlns:a16="http://schemas.microsoft.com/office/drawing/2014/main" id="{050D894C-C905-AB14-C4B5-F39367E39837}"/>
              </a:ext>
            </a:extLst>
          </p:cNvPr>
          <p:cNvSpPr/>
          <p:nvPr/>
        </p:nvSpPr>
        <p:spPr>
          <a:xfrm>
            <a:off x="7506882" y="1289153"/>
            <a:ext cx="4233862" cy="1240687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D08E5F-CCEC-08EC-18D4-6B838D58F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880" y="2639535"/>
            <a:ext cx="4233863" cy="13933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B3BD58-DFF7-D3A1-F985-14E427D9B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881" y="4243854"/>
            <a:ext cx="4146639" cy="13933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5529E6-0992-9F41-7C00-B295A1825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457" y="1399202"/>
            <a:ext cx="3528366" cy="10115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9D3F7E-0FC3-6C5D-4D7B-48E84B0E6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458" y="2767433"/>
            <a:ext cx="3528366" cy="10406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18B239D-042F-9043-92D2-C5647DFBE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290" y="4406069"/>
            <a:ext cx="3589533" cy="1099608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964D8659-3577-0FAF-5635-15DE237C7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D595BE-FA99-7ED8-F10B-5C66AA6B55F0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ar-EG" dirty="0"/>
              <a:t>8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E6401-7548-D706-7B68-25891708B4B3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  <p:extLst>
      <p:ext uri="{BB962C8B-B14F-4D97-AF65-F5344CB8AC3E}">
        <p14:creationId xmlns:p14="http://schemas.microsoft.com/office/powerpoint/2010/main" val="1817277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00000"/>
            <a:ext cx="11000000" cy="7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700000"/>
            <a:ext cx="100000" cy="750000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0000" y="1820000"/>
            <a:ext cx="450000" cy="450000"/>
          </a:xfrm>
          <a:prstGeom prst="ellipse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0000" y="178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⚠ Limited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0000" y="2100000"/>
            <a:ext cx="9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Currently supports monitoring up to 4 students simultaneously.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50000"/>
            <a:ext cx="11000000" cy="7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550000"/>
            <a:ext cx="100000" cy="75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0000" y="2670000"/>
            <a:ext cx="450000" cy="450000"/>
          </a:xfrm>
          <a:prstGeom prst="ellipse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000" y="263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👤 Face Visibility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0000" y="2950000"/>
            <a:ext cx="9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Students must have visible, unobstructed faces for accurate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00000"/>
            <a:ext cx="11000000" cy="7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400000"/>
            <a:ext cx="100000" cy="750000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0000" y="3520000"/>
            <a:ext cx="450000" cy="45000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0000" y="348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📏 Distance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0000" y="3800000"/>
            <a:ext cx="9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Accuracy decreases significantly for students sitting beyond 4-5 meters.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50000"/>
            <a:ext cx="11000000" cy="7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250000"/>
            <a:ext cx="100000" cy="750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0000" y="4370000"/>
            <a:ext cx="450000" cy="450000"/>
          </a:xfrm>
          <a:prstGeom prst="ellipse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0000" y="433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🗘 Head Pose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0000" y="4650000"/>
            <a:ext cx="9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57575"/>
                </a:solidFill>
              </a:rPr>
              <a:t>Extreme head rotations beyond ±45° reduce landmark detection quality.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56485EF-CEF8-9B61-3BFB-13D6DE56D685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D29E4-13D2-09C3-F577-ABB7BE75E245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47954"/>
                </a:solidFill>
                <a:latin typeface="Calibri"/>
              </a:defRPr>
            </a:pPr>
            <a:r>
              <a:rPr sz="2800" b="1" dirty="0">
                <a:solidFill>
                  <a:srgbClr val="047954"/>
                </a:solidFill>
              </a:rPr>
              <a:t>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73352"/>
            <a:ext cx="54864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47954"/>
                </a:solidFill>
                <a:latin typeface="Calibri"/>
              </a:defRPr>
            </a:pPr>
            <a:r>
              <a:rPr sz="1800" dirty="0"/>
              <a:t>Source Code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01952"/>
            <a:ext cx="7379208" cy="333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450" dirty="0"/>
              <a:t>Full modular OOP codebase on GitHub — </a:t>
            </a:r>
            <a:r>
              <a:rPr sz="1450" dirty="0" err="1"/>
              <a:t>src</a:t>
            </a:r>
            <a:r>
              <a:rPr sz="1450" dirty="0"/>
              <a:t>/, scripts/, notebooks/ organized by responsibility.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59152"/>
            <a:ext cx="54864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47954"/>
                </a:solidFill>
                <a:latin typeface="Calibri"/>
              </a:defRPr>
            </a:pPr>
            <a:r>
              <a:rPr sz="1800" dirty="0"/>
              <a:t>Pre-Trained Model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587752"/>
            <a:ext cx="7583719" cy="333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450" dirty="0" err="1"/>
              <a:t>model.pkl</a:t>
            </a:r>
            <a:r>
              <a:rPr sz="1450" dirty="0"/>
              <a:t> (Random Forest) + </a:t>
            </a:r>
            <a:r>
              <a:rPr sz="1450" dirty="0" err="1"/>
              <a:t>scaler.pkl</a:t>
            </a:r>
            <a:r>
              <a:rPr sz="1450" dirty="0"/>
              <a:t> (</a:t>
            </a:r>
            <a:r>
              <a:rPr sz="1450" dirty="0" err="1"/>
              <a:t>StandardScaler</a:t>
            </a:r>
            <a:r>
              <a:rPr sz="1450" dirty="0"/>
              <a:t>) — ready to run without retraining.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44952"/>
            <a:ext cx="54864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6EA8"/>
                </a:solidFill>
                <a:latin typeface="Calibri"/>
              </a:defRPr>
            </a:pPr>
            <a:r>
              <a:rPr sz="1800" dirty="0"/>
              <a:t>Jupyter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73552"/>
            <a:ext cx="8732520" cy="31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350" dirty="0"/>
              <a:t>notebooks/</a:t>
            </a:r>
            <a:r>
              <a:rPr sz="1350" dirty="0" err="1"/>
              <a:t>experimentation.ipynb</a:t>
            </a:r>
            <a:r>
              <a:rPr sz="1350" dirty="0"/>
              <a:t> — full ML pipeline: EDA, feature engineering, model training,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30752"/>
            <a:ext cx="54864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6EA8"/>
                </a:solidFill>
                <a:latin typeface="Calibri"/>
              </a:defRPr>
            </a:pPr>
            <a:r>
              <a:rPr sz="1800" dirty="0"/>
              <a:t>Technical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59352"/>
            <a:ext cx="8078478" cy="31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350" dirty="0"/>
              <a:t>Detailed README.md covering system architecture, quick-start guide, dataset downloads, and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16552"/>
            <a:ext cx="54864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AB7D"/>
                </a:solidFill>
                <a:latin typeface="Calibri"/>
              </a:defRPr>
            </a:pPr>
            <a:r>
              <a:rPr sz="1800" dirty="0"/>
              <a:t>Session Analytics &amp; n8n Automation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45152"/>
            <a:ext cx="7379208" cy="333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450" dirty="0"/>
              <a:t>Per-session timestamped CSV + Matplotlib charts (focus line chart + per-person pie charts).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02352"/>
            <a:ext cx="54864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AB7D"/>
                </a:solidFill>
                <a:latin typeface="Calibri"/>
              </a:defRPr>
            </a:pPr>
            <a:r>
              <a:rPr sz="1800" dirty="0"/>
              <a:t>Data Preparation Scripts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30952"/>
            <a:ext cx="8305800" cy="333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450" dirty="0"/>
              <a:t>generate_embeddings.py — builds face DB from video. extract_features.py — converts images to CSV.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592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47954"/>
                </a:solidFill>
                <a:latin typeface="Calibri"/>
              </a:defRPr>
            </a:pPr>
            <a:r>
              <a:rPr dirty="0"/>
              <a:t>Project Timeline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92896" y="2417552"/>
            <a:ext cx="36576" cy="73152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19744" y="2234672"/>
            <a:ext cx="182880" cy="182880"/>
          </a:xfrm>
          <a:prstGeom prst="ellipse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0160" y="2151424"/>
            <a:ext cx="2743200" cy="34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Dataset Collection&amp; Labeling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92896" y="3331952"/>
            <a:ext cx="36576" cy="73152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19744" y="3149072"/>
            <a:ext cx="182880" cy="182880"/>
          </a:xfrm>
          <a:prstGeom prst="ellipse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78529" y="2948399"/>
            <a:ext cx="3411794" cy="34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Feature Engineering</a:t>
            </a:r>
            <a:r>
              <a:rPr lang="en-US" sz="1600" dirty="0"/>
              <a:t> </a:t>
            </a:r>
            <a:r>
              <a:rPr sz="1600" dirty="0"/>
              <a:t>&amp; Model</a:t>
            </a:r>
            <a:r>
              <a:rPr lang="en-US" sz="1600" dirty="0"/>
              <a:t> </a:t>
            </a:r>
            <a:r>
              <a:rPr sz="1600" dirty="0"/>
              <a:t>Training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92896" y="4246352"/>
            <a:ext cx="36576" cy="73152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619744" y="4063472"/>
            <a:ext cx="182880" cy="182880"/>
          </a:xfrm>
          <a:prstGeom prst="ellipse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00160" y="3980120"/>
            <a:ext cx="2743200" cy="34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System Integration</a:t>
            </a:r>
            <a:r>
              <a:rPr lang="en-US" sz="1600" dirty="0"/>
              <a:t> </a:t>
            </a:r>
            <a:r>
              <a:rPr sz="1600" dirty="0"/>
              <a:t>&amp; Testing</a:t>
            </a:r>
          </a:p>
        </p:txBody>
      </p:sp>
      <p:sp>
        <p:nvSpPr>
          <p:cNvPr id="31" name="Oval 30"/>
          <p:cNvSpPr/>
          <p:nvPr/>
        </p:nvSpPr>
        <p:spPr>
          <a:xfrm>
            <a:off x="8619744" y="4977872"/>
            <a:ext cx="182880" cy="182880"/>
          </a:xfrm>
          <a:prstGeom prst="ellipse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75776" y="4874794"/>
            <a:ext cx="3127248" cy="34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  <a:r>
              <a:rPr sz="1600" dirty="0"/>
              <a:t>Final Deployment</a:t>
            </a:r>
            <a:r>
              <a:rPr lang="en-US" sz="1600" dirty="0"/>
              <a:t> </a:t>
            </a:r>
            <a:r>
              <a:rPr sz="1600" dirty="0"/>
              <a:t>&amp; Presentation</a:t>
            </a:r>
          </a:p>
        </p:txBody>
      </p:sp>
      <p:pic>
        <p:nvPicPr>
          <p:cNvPr id="33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8543838" y="6354099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Oval 33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📦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🤖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📓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📄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4434840"/>
            <a:ext cx="365760" cy="365760"/>
          </a:xfrm>
          <a:prstGeom prst="ellipse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📊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🐍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" y="5700000"/>
            <a:ext cx="365760" cy="365760"/>
          </a:xfrm>
          <a:prstGeom prst="ellipse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681712"/>
            <a:ext cx="54864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200" b="1">
                <a:solidFill>
                  <a:srgbClr val="0FAB7D"/>
                </a:solidFill>
                <a:latin typeface="Calibri"/>
              </a:defRPr>
            </a:pPr>
            <a:r>
              <a:rPr lang="en-US" sz="1800" dirty="0" err="1"/>
              <a:t>Streamlit</a:t>
            </a:r>
            <a:r>
              <a:rPr lang="en-US" sz="1800" dirty="0"/>
              <a:t> Web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910312"/>
            <a:ext cx="8305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chemeClr val="tx2">
                    <a:lumMod val="10000"/>
                  </a:schemeClr>
                </a:solidFill>
              </a:rPr>
              <a:t>Full 8-page web app + n8n Automated Workflows (Email &amp; Sheets integration)s, Profile.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E47C8A-F817-CAA6-3691-AD8E4B04AD21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12D6A-A032-CDA9-DB96-B635E2964DD5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15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47954"/>
                </a:solidFill>
              </a:rPr>
              <a:t>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00000"/>
            <a:ext cx="5400000" cy="7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700000"/>
            <a:ext cx="80000" cy="700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8640" y="1780000"/>
            <a:ext cx="5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📱 Mobile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640" y="2080000"/>
            <a:ext cx="5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57575"/>
                </a:solidFill>
              </a:rPr>
              <a:t>iOS &amp; Android real-time monitoring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1700000"/>
            <a:ext cx="5400000" cy="7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00000" y="1700000"/>
            <a:ext cx="80000" cy="70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000" y="1780000"/>
            <a:ext cx="5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☁ Cloud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000" y="2080000"/>
            <a:ext cx="5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57575"/>
                </a:solidFill>
              </a:rPr>
              <a:t>Scalable cloud-based architecture (AWS/GCP)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00000"/>
            <a:ext cx="5400000" cy="7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500000"/>
            <a:ext cx="80000" cy="700000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8640" y="2580000"/>
            <a:ext cx="5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🤖 Transformer-Based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640" y="2880000"/>
            <a:ext cx="5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757575"/>
                </a:solidFill>
              </a:rPr>
              <a:t>Vision Transformers for improved focus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0" y="2500000"/>
            <a:ext cx="5400000" cy="7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0000" y="2500000"/>
            <a:ext cx="80000" cy="700000"/>
          </a:xfrm>
          <a:prstGeom prst="rect">
            <a:avLst/>
          </a:prstGeom>
          <a:solidFill>
            <a:srgbClr val="D7B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000" y="2580000"/>
            <a:ext cx="5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😊 Emotion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000" y="2880000"/>
            <a:ext cx="5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57575"/>
                </a:solidFill>
              </a:rPr>
              <a:t>Detect student emotions for deeper engagement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00000"/>
            <a:ext cx="5400000" cy="7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300000"/>
            <a:ext cx="80000" cy="700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0000" y="3300000"/>
            <a:ext cx="5400000" cy="7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00000" y="3300000"/>
            <a:ext cx="80000" cy="700000"/>
          </a:xfrm>
          <a:prstGeom prst="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000" y="3380000"/>
            <a:ext cx="5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📈 Larger Dataset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000" y="3680000"/>
            <a:ext cx="5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57575"/>
                </a:solidFill>
              </a:rPr>
              <a:t>Expand dataset with diverse classroom environments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838" y="6354099"/>
            <a:ext cx="1362250" cy="3651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37F3BEF-5D14-4792-1E48-AE8CFC52E090}"/>
              </a:ext>
            </a:extLst>
          </p:cNvPr>
          <p:cNvSpPr txBox="1"/>
          <p:nvPr/>
        </p:nvSpPr>
        <p:spPr>
          <a:xfrm>
            <a:off x="748640" y="3378723"/>
            <a:ext cx="51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</a:rPr>
              <a:t>📏 Distance Limitations</a:t>
            </a:r>
            <a:endParaRPr sz="1600" b="1">
              <a:solidFill>
                <a:srgbClr val="1A1A1A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EE8389-D040-26EB-F415-1E3AA6A489CF}"/>
              </a:ext>
            </a:extLst>
          </p:cNvPr>
          <p:cNvSpPr txBox="1"/>
          <p:nvPr/>
        </p:nvSpPr>
        <p:spPr>
          <a:xfrm>
            <a:off x="748640" y="3589167"/>
            <a:ext cx="51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757575"/>
                </a:solidFill>
              </a:rPr>
              <a:t>Accuracy decreases significantly for students sitting too far (</a:t>
            </a:r>
            <a:r>
              <a:rPr lang="en-US" sz="1200" dirty="0" err="1">
                <a:solidFill>
                  <a:srgbClr val="757575"/>
                </a:solidFill>
              </a:rPr>
              <a:t>e.g.,beyond</a:t>
            </a:r>
            <a:r>
              <a:rPr lang="en-US" sz="1200" dirty="0">
                <a:solidFill>
                  <a:srgbClr val="757575"/>
                </a:solidFill>
              </a:rPr>
              <a:t> 4-5 meter from the camera lens.</a:t>
            </a:r>
            <a:endParaRPr sz="1200" dirty="0">
              <a:solidFill>
                <a:srgbClr val="75757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3EAFCA-63C0-FE4C-1DAF-47A63A09F61B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21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40F9A3-2078-6D59-0C4D-9E9FA06CABCB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1922" y="1710128"/>
            <a:ext cx="9144000" cy="1191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47954"/>
                </a:solidFill>
                <a:latin typeface="Calibri"/>
              </a:defRPr>
            </a:pPr>
            <a:r>
              <a:rPr sz="6600" dirty="0"/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015901" y="2831691"/>
            <a:ext cx="3820409" cy="70238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8708681" y="6323935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ounded Rectangle 7"/>
          <p:cNvSpPr/>
          <p:nvPr/>
        </p:nvSpPr>
        <p:spPr>
          <a:xfrm>
            <a:off x="3869991" y="3669133"/>
            <a:ext cx="1600000" cy="16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70960" y="3669133"/>
            <a:ext cx="1600000" cy="1600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i="1" dirty="0">
              <a:solidFill>
                <a:srgbClr val="75757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69990" y="5399389"/>
            <a:ext cx="1711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1A1A1A"/>
                </a:solidFill>
              </a:rPr>
              <a:t>GitHub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960" y="5391036"/>
            <a:ext cx="16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1A1A1A"/>
                </a:solidFill>
              </a:rPr>
              <a:t>Demo Video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FD403D-73CF-5695-7CB3-B301DA8828BE}"/>
              </a:ext>
            </a:extLst>
          </p:cNvPr>
          <p:cNvSpPr txBox="1"/>
          <p:nvPr/>
        </p:nvSpPr>
        <p:spPr>
          <a:xfrm>
            <a:off x="10994334" y="6411447"/>
            <a:ext cx="66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22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653DFB-1928-00FE-C050-C9BB3197A55B}"/>
              </a:ext>
            </a:extLst>
          </p:cNvPr>
          <p:cNvSpPr txBox="1"/>
          <p:nvPr/>
        </p:nvSpPr>
        <p:spPr>
          <a:xfrm>
            <a:off x="982737" y="6367384"/>
            <a:ext cx="501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DEPI - Graduation Project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002B42-C74F-41BD-5C5E-671159C56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901" y="3835690"/>
            <a:ext cx="1308179" cy="13081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7754C2-6B76-52FA-F6E6-7FAF3D75D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72" y="3835690"/>
            <a:ext cx="1374638" cy="13081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1726</Words>
  <Application>Microsoft Office PowerPoint</Application>
  <PresentationFormat>Widescreen</PresentationFormat>
  <Paragraphs>385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Segoe UI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مؤمن احمد فاروق الجزار</cp:lastModifiedBy>
  <cp:revision>73</cp:revision>
  <dcterms:created xsi:type="dcterms:W3CDTF">2024-03-14T10:03:54Z</dcterms:created>
  <dcterms:modified xsi:type="dcterms:W3CDTF">2026-07-04T12:45:01Z</dcterms:modified>
</cp:coreProperties>
</file>