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64" r:id="rId18"/>
    <p:sldId id="274" r:id="rId19"/>
    <p:sldId id="275" r:id="rId20"/>
    <p:sldId id="265" r:id="rId2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3" roundtripDataSignature="AMtx7mjOmBtk5DbvnkierGKxpb4ZbKw0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4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3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/>
          <p:nvPr/>
        </p:nvSpPr>
        <p:spPr>
          <a:xfrm>
            <a:off x="10933155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3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Google Shape;13;p13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3"/>
          <p:cNvSpPr/>
          <p:nvPr/>
        </p:nvSpPr>
        <p:spPr>
          <a:xfrm>
            <a:off x="10974189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Google Shape;1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2011680"/>
            <a:ext cx="9445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047954"/>
                </a:solidFill>
                <a:latin typeface="Calibri"/>
              </a:defRPr>
            </a:pPr>
            <a:r>
              <a:rPr dirty="0"/>
              <a:t>Student Focus Monitoring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2743200"/>
            <a:ext cx="3959352" cy="36576"/>
          </a:xfrm>
          <a:prstGeom prst="rect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36EA8"/>
                </a:solidFill>
                <a:latin typeface="Calibri"/>
              </a:defRPr>
            </a:pPr>
            <a:r>
              <a:t>Real-Time Multi-Person AI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336EA8"/>
                </a:solidFill>
                <a:latin typeface="Calibri"/>
              </a:defRPr>
            </a:pPr>
            <a:r>
              <a:t>Using Computer Vision &amp;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5752" cy="25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sz="1800" dirty="0"/>
              <a:t>Presented </a:t>
            </a:r>
            <a:r>
              <a:rPr lang="en-US" sz="1800" dirty="0"/>
              <a:t>B</a:t>
            </a:r>
            <a:r>
              <a:rPr sz="1800" dirty="0"/>
              <a:t>y</a:t>
            </a:r>
            <a:endParaRPr lang="ar-EG" sz="1800" dirty="0"/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sz="1800" dirty="0" err="1"/>
              <a:t>Moamen</a:t>
            </a:r>
            <a:r>
              <a:rPr lang="en-US" sz="1800" dirty="0"/>
              <a:t> Ahmed Farouk</a:t>
            </a:r>
            <a:r>
              <a:rPr lang="ar-EG" sz="1800" dirty="0"/>
              <a:t> </a:t>
            </a:r>
            <a:r>
              <a:rPr lang="en-US" sz="1800" dirty="0"/>
              <a:t>(Team Leader)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Mohamed Tamer Elsheikh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Moaz Abdelmoneim</a:t>
            </a:r>
            <a:r>
              <a:rPr lang="ar-EG" sz="1800" dirty="0"/>
              <a:t> </a:t>
            </a:r>
            <a:r>
              <a:rPr lang="en-US" sz="1800" dirty="0" err="1"/>
              <a:t>Abdelaleem</a:t>
            </a:r>
            <a:r>
              <a:rPr lang="en-US" sz="1800" dirty="0"/>
              <a:t> 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Wisal </a:t>
            </a:r>
            <a:r>
              <a:rPr lang="en-US" sz="1800" dirty="0" err="1"/>
              <a:t>Metwaly</a:t>
            </a:r>
            <a:r>
              <a:rPr lang="en-US" sz="1800" dirty="0"/>
              <a:t> Mostafa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Karen Wadid Riad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lang="en-US" sz="1800" dirty="0"/>
              <a:t>Reem Yasser Fathy</a:t>
            </a:r>
          </a:p>
          <a:p>
            <a:pPr algn="ctr">
              <a:lnSpc>
                <a:spcPct val="115000"/>
              </a:lnSpc>
              <a:defRPr sz="1400" b="0">
                <a:solidFill>
                  <a:srgbClr val="1A1A1A"/>
                </a:solidFill>
                <a:latin typeface="Calibri"/>
              </a:defRPr>
            </a:pP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1450259" y="3664544"/>
            <a:ext cx="9445752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FAB7D"/>
                </a:solidFill>
                <a:latin typeface="Calibri"/>
              </a:defRPr>
            </a:pPr>
            <a:r>
              <a:rPr sz="1600" dirty="0"/>
              <a:t>Digital Egypt Pioneers Initiative (DEPI) — Graduation Project</a:t>
            </a:r>
          </a:p>
        </p:txBody>
      </p:sp>
      <p:pic>
        <p:nvPicPr>
          <p:cNvPr id="9" name="Google Shape;110;p1">
            <a:extLst>
              <a:ext uri="{FF2B5EF4-FFF2-40B4-BE49-F238E27FC236}">
                <a16:creationId xmlns:a16="http://schemas.microsoft.com/office/drawing/2014/main" id="{6635ED39-71AB-8BC0-188A-65428482AF0A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89EF3F-FC72-B8E1-560E-AEA5959AD17C}"/>
              </a:ext>
            </a:extLst>
          </p:cNvPr>
          <p:cNvSpPr txBox="1"/>
          <p:nvPr/>
        </p:nvSpPr>
        <p:spPr>
          <a:xfrm>
            <a:off x="11053328" y="6411447"/>
            <a:ext cx="668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Project Idea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64008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73152" cy="1234440"/>
          </a:xfrm>
          <a:prstGeom prst="rect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608076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36EA8"/>
                </a:solidFill>
                <a:latin typeface="Calibri"/>
              </a:defRPr>
            </a:pPr>
            <a:r>
              <a:rPr sz="1600" dirty="0"/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39112"/>
            <a:ext cx="6080760" cy="79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300" dirty="0"/>
              <a:t>Manually monitoring student attention in classrooms is impossible at scale. Teachers cannot simultaneously track multiple students, objectively measure engagement levels, or detect phone usage and exam cheating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64008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3017520"/>
            <a:ext cx="73152" cy="123444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090672"/>
            <a:ext cx="608076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47954"/>
                </a:solidFill>
                <a:latin typeface="Calibri"/>
              </a:defRPr>
            </a:pPr>
            <a:r>
              <a:rPr sz="1600" dirty="0"/>
              <a:t>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64992"/>
            <a:ext cx="6242992" cy="79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300" dirty="0"/>
              <a:t>A real-time AI-powered system that uses a standard webcam to simultaneously monitor up to 4 students — classifying each student's focus state every second, detecting phone usage, and identifying attempts to spoof the system with printed photos.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40080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4343400"/>
            <a:ext cx="73152" cy="1554480"/>
          </a:xfrm>
          <a:prstGeom prst="rect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416552"/>
            <a:ext cx="608076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7B119"/>
                </a:solidFill>
                <a:latin typeface="Calibri"/>
              </a:defRPr>
            </a:pPr>
            <a:r>
              <a:rPr sz="1600" dirty="0"/>
              <a:t>Unique Value Proposition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90872"/>
            <a:ext cx="6080760" cy="1036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300" dirty="0"/>
              <a:t>• First-of-its-kind per-person attribution (phone matched to holder)</a:t>
            </a:r>
            <a:br>
              <a:rPr sz="1300" dirty="0"/>
            </a:br>
            <a:r>
              <a:rPr sz="1300" dirty="0"/>
              <a:t>• Anti-spoofing via adaptive blink detection — not just ML</a:t>
            </a:r>
            <a:br>
              <a:rPr sz="1300" dirty="0"/>
            </a:br>
            <a:r>
              <a:rPr sz="1300" dirty="0"/>
              <a:t>• Zero-effort calibration — 3-second baseline per session</a:t>
            </a:r>
            <a:br>
              <a:rPr sz="1300" dirty="0"/>
            </a:br>
            <a:r>
              <a:rPr sz="1300" dirty="0"/>
              <a:t>• Generates timestamped CSV + analytics charts per student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182880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📷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Camera Feed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125711" y="2423160"/>
            <a:ext cx="219456" cy="41148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98079" y="288036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🧠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AI Analysis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125711" y="3474720"/>
            <a:ext cx="219456" cy="41148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98079" y="393192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📊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Real-Time Overlay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9125711" y="4526280"/>
            <a:ext cx="219456" cy="41148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498079" y="4983480"/>
            <a:ext cx="3474720" cy="59436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8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📈</a:t>
            </a:r>
          </a:p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Session Report</a:t>
            </a:r>
          </a:p>
        </p:txBody>
      </p:sp>
      <p:pic>
        <p:nvPicPr>
          <p:cNvPr id="23" name="Google Shape;110;p1">
            <a:extLst>
              <a:ext uri="{FF2B5EF4-FFF2-40B4-BE49-F238E27FC236}">
                <a16:creationId xmlns:a16="http://schemas.microsoft.com/office/drawing/2014/main" id="{DF7D56B5-E78A-593E-4B35-17C08F082010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8AB5850-661D-E5B3-EB8D-9DE292303B7E}"/>
              </a:ext>
            </a:extLst>
          </p:cNvPr>
          <p:cNvSpPr txBox="1"/>
          <p:nvPr/>
        </p:nvSpPr>
        <p:spPr>
          <a:xfrm>
            <a:off x="11053328" y="6411447"/>
            <a:ext cx="668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System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137160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Camera Frame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965960" y="180594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286000" y="169164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 dirty="0" err="1"/>
              <a:t>MediaPipe</a:t>
            </a:r>
            <a:r>
              <a:rPr sz="1100" dirty="0"/>
              <a:t> </a:t>
            </a:r>
            <a:r>
              <a:rPr sz="1100" dirty="0" err="1"/>
              <a:t>FaceLandmarker</a:t>
            </a:r>
            <a:endParaRPr sz="1100" dirty="0"/>
          </a:p>
        </p:txBody>
      </p:sp>
      <p:sp>
        <p:nvSpPr>
          <p:cNvPr id="6" name="TextBox 5"/>
          <p:cNvSpPr txBox="1"/>
          <p:nvPr/>
        </p:nvSpPr>
        <p:spPr>
          <a:xfrm>
            <a:off x="2286000" y="21031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rPr dirty="0"/>
              <a:t>478 landmarks per face (up to 4)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60519" y="180594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80560" y="1691640"/>
            <a:ext cx="1645920" cy="41148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Feature Extractor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1031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EAR · Yaw · Pitch · Roll · Gaze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72200" y="16230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6172200" y="20802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37960" y="146304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Focus Classifier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38160" y="157734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03920" y="146304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Focused / Distracted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14884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Liveness Detector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38160" y="226314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503920" y="214884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Live / Spoof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090672" y="2286000"/>
            <a:ext cx="219456" cy="27432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86000" y="2651760"/>
            <a:ext cx="155448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Face Recognizer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86200" y="27660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206240" y="2651760"/>
            <a:ext cx="137160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Person Name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1124712" y="2103120"/>
            <a:ext cx="219456" cy="27432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YOLOv8 Phone Detector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2423159" y="381762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743200" y="3703320"/>
            <a:ext cx="137160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Phone </a:t>
            </a:r>
            <a:r>
              <a:rPr sz="1200" dirty="0" err="1"/>
              <a:t>BBox</a:t>
            </a:r>
            <a:endParaRPr sz="1200" dirty="0"/>
          </a:p>
        </p:txBody>
      </p:sp>
      <p:sp>
        <p:nvSpPr>
          <p:cNvPr id="26" name="Right Arrow 25"/>
          <p:cNvSpPr/>
          <p:nvPr/>
        </p:nvSpPr>
        <p:spPr>
          <a:xfrm>
            <a:off x="4160520" y="381762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480560" y="370332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200" dirty="0"/>
              <a:t>Match to Nearest Person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4480560"/>
            <a:ext cx="2286000" cy="41148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050" dirty="0" err="1"/>
              <a:t>PersonState</a:t>
            </a:r>
            <a:r>
              <a:rPr sz="1050" dirty="0"/>
              <a:t> — Majority Vote Buffer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4233672" y="4114800"/>
            <a:ext cx="219456" cy="320040"/>
          </a:xfrm>
          <a:prstGeom prst="down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ight Arrow 29"/>
          <p:cNvSpPr/>
          <p:nvPr/>
        </p:nvSpPr>
        <p:spPr>
          <a:xfrm>
            <a:off x="5532120" y="45948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52160" y="448056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Session Reporter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726679" y="4594860"/>
            <a:ext cx="274320" cy="182880"/>
          </a:xfrm>
          <a:prstGeom prst="rightArrow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046720" y="448056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CSV + Charts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486400"/>
            <a:ext cx="182880" cy="182880"/>
          </a:xfrm>
          <a:prstGeom prst="rect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0120" y="5468112"/>
            <a:ext cx="1371600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Input/Output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5486400"/>
            <a:ext cx="182880" cy="18288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71800" y="5468112"/>
            <a:ext cx="1371600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AI Model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5486400"/>
            <a:ext cx="182880" cy="182880"/>
          </a:xfrm>
          <a:prstGeom prst="rect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83480" y="5468112"/>
            <a:ext cx="1371600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Feature/Utility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5486400"/>
            <a:ext cx="182880" cy="182880"/>
          </a:xfrm>
          <a:prstGeom prst="rect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95160" y="5468112"/>
            <a:ext cx="1371600" cy="292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200" dirty="0"/>
              <a:t>Final Output</a:t>
            </a:r>
          </a:p>
        </p:txBody>
      </p:sp>
      <p:pic>
        <p:nvPicPr>
          <p:cNvPr id="43" name="Google Shape;110;p1">
            <a:extLst>
              <a:ext uri="{FF2B5EF4-FFF2-40B4-BE49-F238E27FC236}">
                <a16:creationId xmlns:a16="http://schemas.microsoft.com/office/drawing/2014/main" id="{A712D1F6-B283-E923-4696-6682632632BE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F50F60F5-92C2-8AC8-6D98-5798691EA25D}"/>
              </a:ext>
            </a:extLst>
          </p:cNvPr>
          <p:cNvSpPr txBox="1"/>
          <p:nvPr/>
        </p:nvSpPr>
        <p:spPr>
          <a:xfrm>
            <a:off x="11053328" y="6411447"/>
            <a:ext cx="668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rPr dirty="0"/>
              <a:t>End Users &amp;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End Users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👨‍🏫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Instructors &amp; Teachers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24028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Track which students are engaged vs. distracted during lectures or lab sessions.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🏛️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108960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6EA8"/>
                </a:solidFill>
                <a:latin typeface="Calibri"/>
              </a:defRPr>
            </a:pPr>
            <a:r>
              <a:rPr sz="1800" dirty="0"/>
              <a:t>Exam Proctors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8328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Detect phone usage and verify the physical presence of a real student (anti-spoofing).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/>
            </a:pPr>
            <a:r>
              <a:t>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51960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FAB7D"/>
                </a:solidFill>
                <a:latin typeface="Calibri"/>
              </a:defRPr>
            </a:pPr>
            <a:r>
              <a:rPr sz="1800" dirty="0"/>
              <a:t>Educational Institutions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2628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Generate session-level attendance + focus reports for evaluation and improvement.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4" name="Oval 13"/>
          <p:cNvSpPr/>
          <p:nvPr/>
        </p:nvSpPr>
        <p:spPr>
          <a:xfrm>
            <a:off x="5760720" y="199339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92024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Multi-Person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76272"/>
            <a:ext cx="22860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Up to 4 students simultaneously</a:t>
            </a:r>
          </a:p>
        </p:txBody>
      </p:sp>
      <p:sp>
        <p:nvSpPr>
          <p:cNvPr id="17" name="Oval 16"/>
          <p:cNvSpPr/>
          <p:nvPr/>
        </p:nvSpPr>
        <p:spPr>
          <a:xfrm>
            <a:off x="8595360" y="199339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92024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Face Recognition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176272"/>
            <a:ext cx="22860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 err="1"/>
              <a:t>DeepFace</a:t>
            </a:r>
            <a:r>
              <a:rPr sz="1600" dirty="0"/>
              <a:t> / </a:t>
            </a:r>
            <a:r>
              <a:rPr sz="1600" dirty="0" err="1"/>
              <a:t>Facenet</a:t>
            </a:r>
            <a:r>
              <a:rPr sz="1600" dirty="0"/>
              <a:t> embeddings</a:t>
            </a:r>
          </a:p>
        </p:txBody>
      </p:sp>
      <p:sp>
        <p:nvSpPr>
          <p:cNvPr id="20" name="Oval 19"/>
          <p:cNvSpPr/>
          <p:nvPr/>
        </p:nvSpPr>
        <p:spPr>
          <a:xfrm>
            <a:off x="5760720" y="309067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01752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Focus 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273552"/>
            <a:ext cx="22860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Random Forest + 3/sec majority vote</a:t>
            </a:r>
          </a:p>
        </p:txBody>
      </p:sp>
      <p:sp>
        <p:nvSpPr>
          <p:cNvPr id="23" name="Oval 22"/>
          <p:cNvSpPr/>
          <p:nvPr/>
        </p:nvSpPr>
        <p:spPr>
          <a:xfrm>
            <a:off x="8595360" y="309067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017520"/>
            <a:ext cx="313944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Smart Phone Detection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3273552"/>
            <a:ext cx="22860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YOLOv8 — attributed per individual</a:t>
            </a:r>
          </a:p>
        </p:txBody>
      </p:sp>
      <p:sp>
        <p:nvSpPr>
          <p:cNvPr id="26" name="Oval 25"/>
          <p:cNvSpPr/>
          <p:nvPr/>
        </p:nvSpPr>
        <p:spPr>
          <a:xfrm>
            <a:off x="5760720" y="418795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🛡️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1480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Liveness / Anti-Spoof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370832"/>
            <a:ext cx="228600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Adaptive blink detection</a:t>
            </a:r>
          </a:p>
        </p:txBody>
      </p:sp>
      <p:sp>
        <p:nvSpPr>
          <p:cNvPr id="29" name="Oval 28"/>
          <p:cNvSpPr/>
          <p:nvPr/>
        </p:nvSpPr>
        <p:spPr>
          <a:xfrm>
            <a:off x="8595360" y="4187952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114800"/>
            <a:ext cx="22860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Session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370832"/>
            <a:ext cx="2286000" cy="358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Per-person charts + CSV</a:t>
            </a:r>
          </a:p>
        </p:txBody>
      </p:sp>
      <p:pic>
        <p:nvPicPr>
          <p:cNvPr id="33" name="Google Shape;110;p1">
            <a:extLst>
              <a:ext uri="{FF2B5EF4-FFF2-40B4-BE49-F238E27FC236}">
                <a16:creationId xmlns:a16="http://schemas.microsoft.com/office/drawing/2014/main" id="{DF873828-40E8-E180-0C66-4EDD64EAE6D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AD1A567-D518-A313-23D4-9247A5F6BC4A}"/>
              </a:ext>
            </a:extLst>
          </p:cNvPr>
          <p:cNvSpPr txBox="1"/>
          <p:nvPr/>
        </p:nvSpPr>
        <p:spPr>
          <a:xfrm>
            <a:off x="11053328" y="6411447"/>
            <a:ext cx="668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Data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39" y="1691640"/>
            <a:ext cx="6786226" cy="4190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047954"/>
                </a:solidFill>
                <a:latin typeface="Calibri"/>
              </a:rPr>
              <a:t>Training Dataset </a:t>
            </a:r>
            <a:r>
              <a:rPr sz="1800" b="0" i="1" dirty="0">
                <a:solidFill>
                  <a:srgbClr val="336EA8"/>
                </a:solidFill>
                <a:latin typeface="Calibri"/>
              </a:rPr>
              <a:t>(features_clean.csv)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Rows: Labeled face images (Focused / Distracted)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Features: EAR · Yaw · Pitch · Roll · Gaze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Label: Binary — 1 (Focused) / 0 (Distracted)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Used to train the Random Forest classifier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600" b="0">
                <a:solidFill>
                  <a:srgbClr val="1A1A1A"/>
                </a:solidFill>
                <a:latin typeface="Calibri"/>
              </a:defRPr>
            </a:pPr>
            <a:endParaRPr sz="1800" dirty="0"/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rPr sz="1800" b="1" i="0" dirty="0">
                <a:solidFill>
                  <a:srgbClr val="047954"/>
                </a:solidFill>
                <a:latin typeface="Calibri"/>
              </a:rPr>
              <a:t>Session Output CSV </a:t>
            </a:r>
            <a:r>
              <a:rPr sz="1800" b="0" i="1" dirty="0">
                <a:solidFill>
                  <a:srgbClr val="336EA8"/>
                </a:solidFill>
                <a:latin typeface="Calibri"/>
              </a:rPr>
              <a:t>(session_YYYY-MM-DD_HH-MM-SS.csv)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Columns: time · person · state · EAR · YAW · PITCH · ROLL · GAZE · </a:t>
            </a:r>
            <a:r>
              <a:rPr sz="1600" dirty="0" err="1"/>
              <a:t>focus_pct</a:t>
            </a:r>
            <a:endParaRPr sz="1600" dirty="0"/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One row per classification sample (3 rows/sec per person)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Timestamped automatically at session end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600" b="0">
                <a:solidFill>
                  <a:srgbClr val="1A1A1A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rPr sz="1800" b="1" i="0" dirty="0">
                <a:solidFill>
                  <a:srgbClr val="047954"/>
                </a:solidFill>
                <a:latin typeface="Calibri"/>
              </a:rPr>
              <a:t>Face Embeddings </a:t>
            </a:r>
            <a:r>
              <a:rPr sz="1800" b="0" i="1" dirty="0">
                <a:solidFill>
                  <a:srgbClr val="336EA8"/>
                </a:solidFill>
                <a:latin typeface="Calibri"/>
              </a:rPr>
              <a:t>(</a:t>
            </a:r>
            <a:r>
              <a:rPr sz="1800" b="0" i="1" dirty="0" err="1">
                <a:solidFill>
                  <a:srgbClr val="336EA8"/>
                </a:solidFill>
                <a:latin typeface="Calibri"/>
              </a:rPr>
              <a:t>embeddings.pkl</a:t>
            </a:r>
            <a:r>
              <a:rPr sz="1800" b="0" i="1" dirty="0">
                <a:solidFill>
                  <a:srgbClr val="336EA8"/>
                </a:solidFill>
                <a:latin typeface="Calibr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Dictionary: {</a:t>
            </a:r>
            <a:r>
              <a:rPr sz="1600" dirty="0" err="1"/>
              <a:t>person_name</a:t>
            </a:r>
            <a:r>
              <a:rPr sz="1600" dirty="0"/>
              <a:t>: </a:t>
            </a:r>
            <a:r>
              <a:rPr sz="1600" dirty="0" err="1"/>
              <a:t>avg_embedding_vector</a:t>
            </a:r>
            <a:r>
              <a:rPr sz="1600" dirty="0"/>
              <a:t>}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Generated from face videos using </a:t>
            </a:r>
            <a:r>
              <a:rPr sz="1600" dirty="0" err="1"/>
              <a:t>DeepFace</a:t>
            </a:r>
            <a:r>
              <a:rPr sz="1600" dirty="0"/>
              <a:t>/</a:t>
            </a:r>
            <a:r>
              <a:rPr sz="1600" dirty="0" err="1"/>
              <a:t>Facenet</a:t>
            </a:r>
            <a:endParaRPr sz="1600" dirty="0"/>
          </a:p>
          <a:p>
            <a:pPr algn="l">
              <a:spcBef>
                <a:spcPts val="0"/>
              </a:spcBef>
              <a:spcAft>
                <a:spcPts val="20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• Used for real-time identity matching via cosine similarity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14160" y="1240561"/>
            <a:ext cx="50292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Sample Session CSV Output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49787"/>
              </p:ext>
            </p:extLst>
          </p:nvPr>
        </p:nvGraphicFramePr>
        <p:xfrm>
          <a:off x="6614160" y="1815599"/>
          <a:ext cx="5135388" cy="179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13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63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13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13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5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821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person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EAR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YAW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focus_pct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21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3.20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Mohamed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focused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0.28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-1.2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21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lang="en-US" dirty="0" err="1"/>
                        <a:t>Moamen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distracted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21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3.87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Wisal</a:t>
                      </a:r>
                      <a:endParaRPr dirty="0"/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focused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0.29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-0.8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rPr dirty="0"/>
                        <a:t>100%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9" name="Google Shape;110;p1">
            <a:extLst>
              <a:ext uri="{FF2B5EF4-FFF2-40B4-BE49-F238E27FC236}">
                <a16:creationId xmlns:a16="http://schemas.microsoft.com/office/drawing/2014/main" id="{B8742E10-8285-1EA9-4359-7E1F92344DCD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7ADDC5-F7C9-5534-A8D9-693301EFFF87}"/>
              </a:ext>
            </a:extLst>
          </p:cNvPr>
          <p:cNvSpPr txBox="1"/>
          <p:nvPr/>
        </p:nvSpPr>
        <p:spPr>
          <a:xfrm>
            <a:off x="11053328" y="6411447"/>
            <a:ext cx="668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rPr dirty="0"/>
              <a:t>Core Language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286000" cy="45720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🐍  Python 3.10+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AI &amp; Computer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2608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800" dirty="0" err="1"/>
              <a:t>MediaPipe</a:t>
            </a:r>
            <a:endParaRPr sz="1800" dirty="0"/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Face landmark detection — 478 points per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292608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800" dirty="0" err="1"/>
              <a:t>DeepFace</a:t>
            </a:r>
            <a:r>
              <a:rPr sz="1800" dirty="0"/>
              <a:t> / </a:t>
            </a:r>
            <a:r>
              <a:rPr sz="1800" dirty="0" err="1"/>
              <a:t>Facenet</a:t>
            </a:r>
            <a:endParaRPr sz="1800" dirty="0"/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Face embedding &amp; identity recognition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92608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YOLOv8 (</a:t>
            </a:r>
            <a:r>
              <a:rPr sz="1600" dirty="0" err="1"/>
              <a:t>Ultralytics</a:t>
            </a:r>
            <a:r>
              <a:rPr sz="1600" dirty="0"/>
              <a:t>)</a:t>
            </a:r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Real-time phone/object detection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Scikit-Learn</a:t>
            </a:r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Random Forest focus classifier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379476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TensorFlow 2.x</a:t>
            </a:r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Backend runtime for </a:t>
            </a:r>
            <a:r>
              <a:rPr sz="1200" dirty="0" err="1"/>
              <a:t>DeepFace</a:t>
            </a:r>
            <a:r>
              <a:rPr sz="1200" dirty="0"/>
              <a:t> &amp; </a:t>
            </a:r>
            <a:r>
              <a:rPr sz="1200" dirty="0" err="1"/>
              <a:t>MediaPipe</a:t>
            </a:r>
            <a:endParaRPr sz="1200" dirty="0"/>
          </a:p>
        </p:txBody>
      </p:sp>
      <p:sp>
        <p:nvSpPr>
          <p:cNvPr id="11" name="Rounded Rectangle 10"/>
          <p:cNvSpPr/>
          <p:nvPr/>
        </p:nvSpPr>
        <p:spPr>
          <a:xfrm>
            <a:off x="7589520" y="3794760"/>
            <a:ext cx="3383280" cy="7315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OpenCV</a:t>
            </a:r>
          </a:p>
          <a:p>
            <a:pPr algn="ctr">
              <a:spcBef>
                <a:spcPts val="300"/>
              </a:spcBef>
              <a:defRPr sz="1000">
                <a:solidFill>
                  <a:srgbClr val="E8EFF7"/>
                </a:solidFill>
                <a:latin typeface="Calibri"/>
              </a:defRPr>
            </a:pPr>
            <a:r>
              <a:rPr sz="1200" dirty="0"/>
              <a:t>Webcam capture &amp; frame rendering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Analytics &amp; Utilities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21208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Matplotlib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521208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lang="en-US" sz="1600" dirty="0"/>
              <a:t>Pandas</a:t>
            </a:r>
            <a:endParaRPr sz="1600" dirty="0"/>
          </a:p>
        </p:txBody>
      </p:sp>
      <p:sp>
        <p:nvSpPr>
          <p:cNvPr id="15" name="Rounded Rectangle 14"/>
          <p:cNvSpPr/>
          <p:nvPr/>
        </p:nvSpPr>
        <p:spPr>
          <a:xfrm>
            <a:off x="4114800" y="521208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NumPy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521208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600" dirty="0"/>
              <a:t>SciPy</a:t>
            </a:r>
          </a:p>
        </p:txBody>
      </p:sp>
      <p:pic>
        <p:nvPicPr>
          <p:cNvPr id="17" name="Google Shape;110;p1">
            <a:extLst>
              <a:ext uri="{FF2B5EF4-FFF2-40B4-BE49-F238E27FC236}">
                <a16:creationId xmlns:a16="http://schemas.microsoft.com/office/drawing/2014/main" id="{C325A2E1-EEF7-90FC-497A-24325092349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600035" y="6353431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BC862A4-BDB3-16B8-3262-72323F9B4722}"/>
              </a:ext>
            </a:extLst>
          </p:cNvPr>
          <p:cNvSpPr txBox="1"/>
          <p:nvPr/>
        </p:nvSpPr>
        <p:spPr>
          <a:xfrm>
            <a:off x="11053328" y="6411447"/>
            <a:ext cx="668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rPr dirty="0"/>
              <a:t>Live Application &amp; Testing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2057400"/>
            <a:ext cx="36576" cy="6400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673352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Run </a:t>
            </a:r>
            <a:r>
              <a:rPr sz="1600" dirty="0" err="1"/>
              <a:t>py</a:t>
            </a:r>
            <a:r>
              <a:rPr sz="1600" dirty="0"/>
              <a:t> src/main.py — all models load automatically.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365760" cy="36576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063240"/>
            <a:ext cx="36576" cy="6400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679192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FAB7D"/>
                </a:solidFill>
                <a:latin typeface="Calibri"/>
              </a:defRPr>
            </a:pPr>
            <a:r>
              <a:rPr sz="1800" dirty="0"/>
              <a:t>3-Second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92608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System reads neutral head pose and EAR baseline to personalize predictions.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03320"/>
            <a:ext cx="365760" cy="365760"/>
          </a:xfrm>
          <a:prstGeom prst="ellipse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069080"/>
            <a:ext cx="36576" cy="6400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685032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36EA8"/>
                </a:solidFill>
                <a:latin typeface="Calibri"/>
              </a:defRPr>
            </a:pPr>
            <a:r>
              <a:rPr sz="1800" dirty="0"/>
              <a:t>Real-Time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31920"/>
            <a:ext cx="4114800" cy="64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Each person gets a labeled bounding box updated 3× per second.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709160"/>
            <a:ext cx="365760" cy="365760"/>
          </a:xfrm>
          <a:prstGeom prst="ellipse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690872"/>
            <a:ext cx="41148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7B119"/>
                </a:solidFill>
                <a:latin typeface="Calibri"/>
              </a:defRPr>
            </a:pPr>
            <a:r>
              <a:rPr sz="1800" dirty="0"/>
              <a:t>Session End (press Q)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937760"/>
            <a:ext cx="4114800" cy="6419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Timestamped CSV saved + per-person analytics charts displayed.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00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47954"/>
                </a:solidFill>
                <a:latin typeface="Calibri"/>
              </a:defRPr>
            </a:pPr>
            <a:r>
              <a:t>Visual State Legend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1965960"/>
            <a:ext cx="5303520" cy="1005840"/>
          </a:xfrm>
          <a:prstGeom prst="roundRect">
            <a:avLst>
              <a:gd name="adj" fmla="val 5000"/>
            </a:avLst>
          </a:prstGeom>
          <a:solidFill>
            <a:srgbClr val="F0FFF0"/>
          </a:solidFill>
          <a:ln w="381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80760" y="2011680"/>
            <a:ext cx="5029200" cy="666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4CAF50"/>
                </a:solidFill>
                <a:latin typeface="Calibri"/>
              </a:rPr>
              <a:t>🟢 Mohamed — Focused (87%) — Live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Student is on-task, eyes forward, no phone detected.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108960"/>
            <a:ext cx="5303520" cy="100584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381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80760" y="3154680"/>
            <a:ext cx="50292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F96167"/>
                </a:solidFill>
                <a:latin typeface="Calibri"/>
              </a:rPr>
              <a:t>🟠 Moaz — Distracted (34%) [PHONE!]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Phone matched to this person via YOLOv8 bounding box proximity.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4251960"/>
            <a:ext cx="5303520" cy="1005840"/>
          </a:xfrm>
          <a:prstGeom prst="roundRect">
            <a:avLst>
              <a:gd name="adj" fmla="val 5000"/>
            </a:avLst>
          </a:prstGeom>
          <a:solidFill>
            <a:srgbClr val="FFEBEB"/>
          </a:solidFill>
          <a:ln w="38100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60" y="4297680"/>
            <a:ext cx="50292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D32F2F"/>
                </a:solidFill>
                <a:latin typeface="Calibri"/>
              </a:rPr>
              <a:t>🔴 Unknown — SPOOF!! / FAKE FACE!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No blinks detected after grace period — anti-spoofing triggered.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" y="5670679"/>
            <a:ext cx="12070080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 i="1">
                <a:solidFill>
                  <a:srgbClr val="666666"/>
                </a:solidFill>
                <a:latin typeface="Calibri"/>
              </a:defRPr>
            </a:pPr>
            <a:r>
              <a:rPr sz="1450" dirty="0"/>
              <a:t>Model: 5 facial feature signals (EAR, Yaw, Pitch, Roll, Gaze) · 3 samples/sec majority vote · Cosine similarity threshold: 0.65 · Random Forest accuracy: 92.8%</a:t>
            </a:r>
          </a:p>
        </p:txBody>
      </p:sp>
      <p:pic>
        <p:nvPicPr>
          <p:cNvPr id="26" name="Google Shape;110;p1">
            <a:extLst>
              <a:ext uri="{FF2B5EF4-FFF2-40B4-BE49-F238E27FC236}">
                <a16:creationId xmlns:a16="http://schemas.microsoft.com/office/drawing/2014/main" id="{C325A2E1-EEF7-90FC-497A-24325092349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738178" y="6356191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EE246DF-4A21-3D0A-B9D5-DDD5868E8BA6}"/>
              </a:ext>
            </a:extLst>
          </p:cNvPr>
          <p:cNvSpPr txBox="1"/>
          <p:nvPr/>
        </p:nvSpPr>
        <p:spPr>
          <a:xfrm>
            <a:off x="11053328" y="6411447"/>
            <a:ext cx="668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Project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733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Source Code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901952"/>
            <a:ext cx="7379208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450" dirty="0"/>
              <a:t>Full modular OOP codebase on GitHub — </a:t>
            </a:r>
            <a:r>
              <a:rPr sz="1450" dirty="0" err="1"/>
              <a:t>src</a:t>
            </a:r>
            <a:r>
              <a:rPr sz="1450" dirty="0"/>
              <a:t>/, scripts/, notebooks/ organized by responsibility.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591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47954"/>
                </a:solidFill>
                <a:latin typeface="Calibri"/>
              </a:defRPr>
            </a:pPr>
            <a:r>
              <a:rPr sz="1800" dirty="0"/>
              <a:t>Pre-Trained Model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587752"/>
            <a:ext cx="7583719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450" dirty="0" err="1"/>
              <a:t>model.pkl</a:t>
            </a:r>
            <a:r>
              <a:rPr sz="1450" dirty="0"/>
              <a:t> (Random Forest) + </a:t>
            </a:r>
            <a:r>
              <a:rPr sz="1450" dirty="0" err="1"/>
              <a:t>scaler.pkl</a:t>
            </a:r>
            <a:r>
              <a:rPr sz="1450" dirty="0"/>
              <a:t> (</a:t>
            </a:r>
            <a:r>
              <a:rPr sz="1450" dirty="0" err="1"/>
              <a:t>StandardScaler</a:t>
            </a:r>
            <a:r>
              <a:rPr sz="1450" dirty="0"/>
              <a:t>) — ready to run without retraining.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449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6EA8"/>
                </a:solidFill>
                <a:latin typeface="Calibri"/>
              </a:defRPr>
            </a:pPr>
            <a:r>
              <a:rPr sz="1800" dirty="0"/>
              <a:t>Jupyter Notebook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73552"/>
            <a:ext cx="8732520" cy="31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350" dirty="0"/>
              <a:t>notebooks/</a:t>
            </a:r>
            <a:r>
              <a:rPr sz="1350" dirty="0" err="1"/>
              <a:t>experimentation.ipynb</a:t>
            </a:r>
            <a:r>
              <a:rPr sz="1350" dirty="0"/>
              <a:t> — full ML pipeline: EDA, feature engineering, model training, evaluation.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307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6EA8"/>
                </a:solidFill>
                <a:latin typeface="Calibri"/>
              </a:defRPr>
            </a:pPr>
            <a:r>
              <a:rPr sz="1800" dirty="0"/>
              <a:t>Technical Documentation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59352"/>
            <a:ext cx="8078478" cy="317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350" dirty="0"/>
              <a:t>Detailed README.md covering system architecture, quick-start guide, dataset downloads, and pipeline.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165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AB7D"/>
                </a:solidFill>
                <a:latin typeface="Calibri"/>
              </a:defRPr>
            </a:pPr>
            <a:r>
              <a:rPr sz="1800" dirty="0"/>
              <a:t>Session Analytics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45152"/>
            <a:ext cx="7379208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450" dirty="0"/>
              <a:t>Per-session timestamped CSV + Matplotlib charts (focus line chart + per-person pie charts).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206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102352"/>
            <a:ext cx="5486400" cy="392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AB7D"/>
                </a:solidFill>
                <a:latin typeface="Calibri"/>
              </a:defRPr>
            </a:pPr>
            <a:r>
              <a:rPr sz="1800" dirty="0"/>
              <a:t>Data Preparation Scripts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330952"/>
            <a:ext cx="8305800" cy="333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450" dirty="0"/>
              <a:t>generate_embeddings.py — builds face DB from video. extract_features.py — converts images to CSV.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5920" y="1600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47954"/>
                </a:solidFill>
                <a:latin typeface="Calibri"/>
              </a:defRPr>
            </a:pPr>
            <a:r>
              <a:rPr dirty="0"/>
              <a:t>Project Timeline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92896" y="2417552"/>
            <a:ext cx="36576" cy="73152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619744" y="2234672"/>
            <a:ext cx="182880" cy="18288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00160" y="2151424"/>
            <a:ext cx="2743200" cy="34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Dataset Collection&amp; Labeling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92896" y="3331952"/>
            <a:ext cx="36576" cy="73152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619744" y="3149072"/>
            <a:ext cx="182880" cy="182880"/>
          </a:xfrm>
          <a:prstGeom prst="ellipse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78529" y="2948399"/>
            <a:ext cx="3411794" cy="34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Feature Engineering</a:t>
            </a:r>
            <a:r>
              <a:rPr lang="en-US" sz="1600" dirty="0"/>
              <a:t> </a:t>
            </a:r>
            <a:r>
              <a:rPr sz="1600" dirty="0"/>
              <a:t>&amp; Model</a:t>
            </a:r>
            <a:r>
              <a:rPr lang="en-US" sz="1600" dirty="0"/>
              <a:t> </a:t>
            </a:r>
            <a:r>
              <a:rPr sz="1600" dirty="0"/>
              <a:t>Training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92896" y="4246352"/>
            <a:ext cx="36576" cy="731520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619744" y="4063472"/>
            <a:ext cx="182880" cy="18288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00160" y="3980120"/>
            <a:ext cx="2743200" cy="34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System Integration</a:t>
            </a:r>
            <a:r>
              <a:rPr lang="en-US" sz="1600" dirty="0"/>
              <a:t> </a:t>
            </a:r>
            <a:r>
              <a:rPr sz="1600" dirty="0"/>
              <a:t>&amp; Testing</a:t>
            </a:r>
          </a:p>
        </p:txBody>
      </p:sp>
      <p:sp>
        <p:nvSpPr>
          <p:cNvPr id="31" name="Oval 30"/>
          <p:cNvSpPr/>
          <p:nvPr/>
        </p:nvSpPr>
        <p:spPr>
          <a:xfrm>
            <a:off x="8619744" y="4977872"/>
            <a:ext cx="182880" cy="182880"/>
          </a:xfrm>
          <a:prstGeom prst="ellipse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875776" y="4874794"/>
            <a:ext cx="3127248" cy="34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1A"/>
                </a:solidFill>
                <a:latin typeface="Calibri"/>
              </a:defRPr>
            </a:pPr>
            <a:r>
              <a:rPr sz="1600" dirty="0"/>
              <a:t>Final Deployment</a:t>
            </a:r>
            <a:r>
              <a:rPr lang="en-US" sz="1600" dirty="0"/>
              <a:t> </a:t>
            </a:r>
            <a:r>
              <a:rPr sz="1600" dirty="0"/>
              <a:t>&amp; Presentation</a:t>
            </a:r>
          </a:p>
        </p:txBody>
      </p:sp>
      <p:pic>
        <p:nvPicPr>
          <p:cNvPr id="33" name="Google Shape;110;p1">
            <a:extLst>
              <a:ext uri="{FF2B5EF4-FFF2-40B4-BE49-F238E27FC236}">
                <a16:creationId xmlns:a16="http://schemas.microsoft.com/office/drawing/2014/main" id="{C325A2E1-EEF7-90FC-497A-24325092349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979D7511-A401-1CFD-40B6-8113D49BA70D}"/>
              </a:ext>
            </a:extLst>
          </p:cNvPr>
          <p:cNvSpPr txBox="1"/>
          <p:nvPr/>
        </p:nvSpPr>
        <p:spPr>
          <a:xfrm>
            <a:off x="11053328" y="6411447"/>
            <a:ext cx="668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64592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47954"/>
                </a:solidFill>
                <a:latin typeface="Calibri"/>
              </a:defRPr>
            </a:pPr>
            <a:r>
              <a:rPr dirty="0"/>
              <a:t>Student Monitoring Portal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336EA8"/>
                </a:solidFill>
                <a:latin typeface="Calibri"/>
              </a:defRPr>
            </a:pPr>
            <a:r>
              <a:rPr dirty="0" err="1"/>
              <a:t>Streamlit</a:t>
            </a:r>
            <a:r>
              <a:rPr dirty="0"/>
              <a:t> Web Application — Interactive Documentation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834640"/>
            <a:ext cx="3959352" cy="36576"/>
          </a:xfrm>
          <a:prstGeom prst="rect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3108960"/>
            <a:ext cx="8531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A1A1A"/>
                </a:solidFill>
                <a:latin typeface="Calibri"/>
              </a:defRPr>
            </a:pPr>
            <a:r>
              <a:rPr dirty="0"/>
              <a:t>A full-stack web application built with </a:t>
            </a:r>
            <a:r>
              <a:rPr dirty="0" err="1"/>
              <a:t>Streamlit</a:t>
            </a:r>
            <a:r>
              <a:rPr dirty="0"/>
              <a:t> that provides</a:t>
            </a:r>
            <a:br>
              <a:rPr dirty="0"/>
            </a:br>
            <a:r>
              <a:rPr dirty="0"/>
              <a:t>user authentication, face registration, real-time AI monitoring,</a:t>
            </a:r>
            <a:br>
              <a:rPr dirty="0"/>
            </a:br>
            <a:r>
              <a:rPr dirty="0"/>
              <a:t>attendance tracking, and advanced focus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206240"/>
            <a:ext cx="978408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87752" y="427939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97480" y="4206240"/>
            <a:ext cx="978408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9312" y="427939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49040" y="4206240"/>
            <a:ext cx="978408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690872" y="427939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800600" y="4206240"/>
            <a:ext cx="978408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42432" y="427939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852160" y="4206240"/>
            <a:ext cx="978408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793992" y="427939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903720" y="4206240"/>
            <a:ext cx="978408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Lecture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45552" y="427939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955280" y="4206240"/>
            <a:ext cx="978408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Attendance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97112" y="427939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006840" y="4206240"/>
            <a:ext cx="978408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948672" y="427939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058400" y="4206240"/>
            <a:ext cx="978408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Profile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4846320"/>
            <a:ext cx="1234440" cy="292608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Streamlit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11880" y="4846320"/>
            <a:ext cx="1234440" cy="292608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SQLite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0" y="4846320"/>
            <a:ext cx="1234440" cy="292608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DeepFace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846320"/>
            <a:ext cx="1234440" cy="292608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MediaPipe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0" y="4846320"/>
            <a:ext cx="1234440" cy="292608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YOLOv8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4846320"/>
            <a:ext cx="1234440" cy="292608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Matplotlib</a:t>
            </a:r>
          </a:p>
        </p:txBody>
      </p:sp>
      <p:pic>
        <p:nvPicPr>
          <p:cNvPr id="31" name="Google Shape;110;p1">
            <a:extLst>
              <a:ext uri="{FF2B5EF4-FFF2-40B4-BE49-F238E27FC236}">
                <a16:creationId xmlns:a16="http://schemas.microsoft.com/office/drawing/2014/main" id="{5D19B90C-B17E-A741-8A7C-198971CC88E3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2371779-0057-037F-720B-94463CD43C8B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Web App Architecture &amp; Navigation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50292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47954"/>
                </a:solidFill>
                <a:latin typeface="Calibri"/>
              </a:defRPr>
            </a:pPr>
            <a:r>
              <a:t>FRONTEND (Streamlit Multi-Page App)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463040" cy="384048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Home Portal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31720" y="2103120"/>
            <a:ext cx="1463040" cy="384048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Registration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2103120"/>
            <a:ext cx="1463040" cy="384048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463040" cy="384048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2606040"/>
            <a:ext cx="1463040" cy="384048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2606040"/>
            <a:ext cx="1463040" cy="384048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Join Lecture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1463040" cy="384048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Attendance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3108960"/>
            <a:ext cx="1463040" cy="384048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3108960"/>
            <a:ext cx="1463040" cy="384048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FAB7D"/>
                </a:solidFill>
                <a:latin typeface="Calibri"/>
              </a:defRPr>
            </a:pPr>
            <a:r>
              <a:t>BACKEND MODULES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1463040" cy="6400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D7B119"/>
                </a:solidFill>
                <a:latin typeface="Calibri"/>
              </a:defRPr>
            </a:pPr>
            <a:r>
              <a:t>auth.py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Authentication</a:t>
            </a:r>
            <a:br/>
            <a:r>
              <a:t>PBKDF2 + Sessions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4023360"/>
            <a:ext cx="1463040" cy="6400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D7B119"/>
                </a:solidFill>
                <a:latin typeface="Calibri"/>
              </a:defRPr>
            </a:pPr>
            <a:r>
              <a:t>db.py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SQLite Database</a:t>
            </a:r>
            <a:br/>
            <a:r>
              <a:t>Users 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4023360"/>
            <a:ext cx="1463040" cy="6400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D7B119"/>
                </a:solidFill>
                <a:latin typeface="Calibri"/>
              </a:defRPr>
            </a:pPr>
            <a:r>
              <a:t>integration/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AI Integration</a:t>
            </a:r>
            <a:br/>
            <a:r>
              <a:t>src/main.py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7B119"/>
                </a:solidFill>
                <a:latin typeface="Calibri"/>
              </a:defRPr>
            </a:pPr>
            <a:r>
              <a:t>DATA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463040" cy="45720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database.db</a:t>
            </a:r>
            <a:br/>
            <a:r>
              <a:t>User accounts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5212080"/>
            <a:ext cx="1463040" cy="45720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embeddings/*.pkl</a:t>
            </a:r>
            <a:br/>
            <a:r>
              <a:t>Face vectors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5212080"/>
            <a:ext cx="1463040" cy="45720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session_*.csv</a:t>
            </a:r>
            <a:br/>
            <a:r>
              <a:t>Focus 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691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User Journey Flow</a:t>
            </a:r>
          </a:p>
        </p:txBody>
      </p:sp>
      <p:sp>
        <p:nvSpPr>
          <p:cNvPr id="23" name="Oval 22"/>
          <p:cNvSpPr/>
          <p:nvPr/>
        </p:nvSpPr>
        <p:spPr>
          <a:xfrm>
            <a:off x="5943600" y="2148840"/>
            <a:ext cx="320040" cy="320040"/>
          </a:xfrm>
          <a:prstGeom prst="ellipse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6EA8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359152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Create account with</a:t>
            </a:r>
            <a:br/>
            <a:r>
              <a:t>name, email, password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412480" y="2286000"/>
            <a:ext cx="228600" cy="164592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686800" y="2148840"/>
            <a:ext cx="320040" cy="320040"/>
          </a:xfrm>
          <a:prstGeom prst="ellipse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36EA8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359152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Authenticate with</a:t>
            </a:r>
            <a:br/>
            <a:r>
              <a:t>credentials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7315200" y="2880360"/>
            <a:ext cx="164592" cy="320040"/>
          </a:xfrm>
          <a:prstGeom prst="downArrow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943600" y="3429000"/>
            <a:ext cx="320040" cy="32004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47954"/>
                </a:solidFill>
                <a:latin typeface="Calibri"/>
              </a:defRPr>
            </a:pPr>
            <a:r>
              <a:t>Face Registration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3639312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Record face video</a:t>
            </a:r>
            <a:br/>
            <a:r>
              <a:t>(Front/Right/Left)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412480" y="3566160"/>
            <a:ext cx="228600" cy="164592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686800" y="3429000"/>
            <a:ext cx="320040" cy="32004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383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FAB7D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3639312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View metrics &amp;</a:t>
            </a:r>
            <a:br/>
            <a:r>
              <a:t>quick actions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7315200" y="4160520"/>
            <a:ext cx="164592" cy="320040"/>
          </a:xfrm>
          <a:prstGeom prst="downArrow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5943600" y="4709160"/>
            <a:ext cx="320040" cy="32004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47954"/>
                </a:solidFill>
                <a:latin typeface="Calibri"/>
              </a:defRPr>
            </a:pPr>
            <a:r>
              <a:t>Join Lecture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919472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Launch AI monitor</a:t>
            </a:r>
            <a:br/>
            <a:r>
              <a:t>(real-time)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412480" y="4846320"/>
            <a:ext cx="228600" cy="164592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686800" y="4709160"/>
            <a:ext cx="320040" cy="320040"/>
          </a:xfrm>
          <a:prstGeom prst="ellipse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46634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D7B119"/>
                </a:solidFill>
                <a:latin typeface="Calibri"/>
              </a:defRPr>
            </a:pPr>
            <a:r>
              <a:t>View Reports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919472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Focus charts &amp;</a:t>
            </a:r>
            <a:br/>
            <a:r>
              <a:t>analytics</a:t>
            </a:r>
          </a:p>
        </p:txBody>
      </p:sp>
      <p:pic>
        <p:nvPicPr>
          <p:cNvPr id="47" name="Google Shape;110;p1">
            <a:extLst>
              <a:ext uri="{FF2B5EF4-FFF2-40B4-BE49-F238E27FC236}">
                <a16:creationId xmlns:a16="http://schemas.microsoft.com/office/drawing/2014/main" id="{E1343D18-AC36-7B5C-14C6-405F35A2565B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21320B9A-4BB6-9BBE-D5A1-919ECBB3EEC0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Home Page — Student Monitoring Portal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51790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2763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9689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0662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7588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8561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80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64608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33872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Lecture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1286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2259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Attend.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185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0158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7084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8057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Profile</a:t>
            </a:r>
          </a:p>
        </p:txBody>
      </p:sp>
      <p:pic>
        <p:nvPicPr>
          <p:cNvPr id="20" name="Picture 19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6858000" cy="325907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863840" y="2011680"/>
            <a:ext cx="3474720" cy="50292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1  </a:t>
            </a:r>
            <a:r>
              <a:rPr sz="1000" b="1">
                <a:solidFill>
                  <a:srgbClr val="FFFFFF"/>
                </a:solidFill>
                <a:latin typeface="Calibri"/>
              </a:rPr>
              <a:t>Sidebar Navigation
8 pages for complete workflow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286000" y="2331720"/>
            <a:ext cx="5577840" cy="411480"/>
          </a:xfrm>
          <a:prstGeom prst="line">
            <a:avLst/>
          </a:prstGeom>
          <a:ln w="31750">
            <a:solidFill>
              <a:srgbClr val="0479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863840" y="2651760"/>
            <a:ext cx="347472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2  </a:t>
            </a:r>
            <a:r>
              <a:rPr sz="1000" b="1">
                <a:solidFill>
                  <a:srgbClr val="FFFFFF"/>
                </a:solidFill>
                <a:latin typeface="Calibri"/>
              </a:rPr>
              <a:t>Portal title with graduation cap icon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5029200" y="2286000"/>
            <a:ext cx="2834640" cy="594360"/>
          </a:xfrm>
          <a:prstGeom prst="line">
            <a:avLst/>
          </a:prstGeom>
          <a:ln w="31750">
            <a:solidFill>
              <a:srgbClr val="336E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63840" y="3200400"/>
            <a:ext cx="3474720" cy="50292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3  </a:t>
            </a:r>
            <a:r>
              <a:rPr sz="1000" b="1">
                <a:solidFill>
                  <a:srgbClr val="FFFFFF"/>
                </a:solidFill>
                <a:latin typeface="Calibri"/>
              </a:rPr>
              <a:t>Green success banner —
user is authenticated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5486400" y="2834640"/>
            <a:ext cx="2377440" cy="685800"/>
          </a:xfrm>
          <a:prstGeom prst="line">
            <a:avLst/>
          </a:prstGeom>
          <a:ln w="31750">
            <a:solidFill>
              <a:srgbClr val="0FA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863840" y="3931920"/>
            <a:ext cx="3474720" cy="50292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4  </a:t>
            </a:r>
            <a:r>
              <a:rPr sz="1000" b="1">
                <a:solidFill>
                  <a:srgbClr val="1A1A1A"/>
                </a:solidFill>
                <a:latin typeface="Calibri"/>
              </a:rPr>
              <a:t>Logged-in user identity +
Logout button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1828800" y="4251960"/>
            <a:ext cx="6035040" cy="777240"/>
          </a:xfrm>
          <a:prstGeom prst="line">
            <a:avLst/>
          </a:prstGeom>
          <a:ln w="31750">
            <a:solidFill>
              <a:srgbClr val="D7B11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48640" y="5440680"/>
            <a:ext cx="10789920" cy="502920"/>
          </a:xfrm>
          <a:prstGeom prst="roundRect">
            <a:avLst>
              <a:gd name="adj" fmla="val 5000"/>
            </a:avLst>
          </a:prstGeom>
          <a:solidFill>
            <a:srgbClr val="E8F5F0"/>
          </a:solidFill>
          <a:ln w="12700">
            <a:solidFill>
              <a:srgbClr val="0FA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i="0">
                <a:solidFill>
                  <a:srgbClr val="047954"/>
                </a:solidFill>
                <a:latin typeface="Calibri"/>
              </a:rPr>
              <a:t>app.py  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| Main entry point with st.set_page_config(layout='wide') | Multi-page navigation via Streamlit's pages/ directory | Session-based auth with st.session_state | Dark theme UI</a:t>
            </a:r>
          </a:p>
        </p:txBody>
      </p:sp>
      <p:pic>
        <p:nvPicPr>
          <p:cNvPr id="31" name="Google Shape;110;p1">
            <a:extLst>
              <a:ext uri="{FF2B5EF4-FFF2-40B4-BE49-F238E27FC236}">
                <a16:creationId xmlns:a16="http://schemas.microsoft.com/office/drawing/2014/main" id="{736CE8B7-AABA-0A3D-E2EF-64AC17E053D1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327E8F2-1770-628B-7056-BE8EF1DA3AAC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Authentication — Register &amp; Login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51790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2763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9689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0662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7588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8561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80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64608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33872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Lecture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1286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2259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Attend.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185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0158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7084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8057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Profile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47954"/>
                </a:solidFill>
                <a:latin typeface="Calibri"/>
              </a:defRPr>
            </a:pPr>
            <a:r>
              <a:t>Register Page (1_register.py)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2860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336EA8"/>
                </a:solidFill>
                <a:latin typeface="Calibri"/>
              </a:rPr>
              <a:t>Streamlit Form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with 5 input fields:</a:t>
            </a:r>
          </a:p>
          <a:p>
            <a:pPr>
              <a:spcAft>
                <a:spcPts val="200"/>
              </a:spcAft>
              <a:defRPr sz="1000">
                <a:solidFill>
                  <a:srgbClr val="1A1A1A"/>
                </a:solidFill>
                <a:latin typeface="Calibri"/>
              </a:defRPr>
            </a:pPr>
            <a:r>
              <a:t>  Full Name + Username + Email</a:t>
            </a:r>
          </a:p>
          <a:p>
            <a:pPr>
              <a:spcAft>
                <a:spcPts val="200"/>
              </a:spcAft>
              <a:defRPr sz="1000">
                <a:solidFill>
                  <a:srgbClr val="1A1A1A"/>
                </a:solidFill>
                <a:latin typeface="Calibri"/>
              </a:defRPr>
            </a:pPr>
            <a:r>
              <a:t>  Password + Confirm Password</a:t>
            </a:r>
          </a:p>
          <a:p>
            <a:pPr>
              <a:spcAft>
                <a:spcPts val="200"/>
              </a:spcAft>
              <a:defRPr sz="1000">
                <a:solidFill>
                  <a:srgbClr val="1A1A1A"/>
                </a:solidFill>
                <a:latin typeface="Calibri"/>
              </a:defRPr>
            </a:pPr>
            <a:r>
              <a:t>  PBKDF2-HMAC-SHA256 password hashing</a:t>
            </a:r>
          </a:p>
          <a:p>
            <a:pPr>
              <a:spcAft>
                <a:spcPts val="200"/>
              </a:spcAft>
              <a:defRPr sz="1000">
                <a:solidFill>
                  <a:srgbClr val="1A1A1A"/>
                </a:solidFill>
                <a:latin typeface="Calibri"/>
              </a:defRPr>
            </a:pPr>
            <a:r>
              <a:t>  SQLite users table storage</a:t>
            </a:r>
          </a:p>
          <a:p>
            <a:pPr>
              <a:spcAft>
                <a:spcPts val="200"/>
              </a:spcAft>
              <a:defRPr sz="1000">
                <a:solidFill>
                  <a:srgbClr val="1A1A1A"/>
                </a:solidFill>
                <a:latin typeface="Calibri"/>
              </a:defRPr>
            </a:pPr>
            <a:r>
              <a:t>  Duplicate username/email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47954"/>
                </a:solidFill>
                <a:latin typeface="Calibri"/>
              </a:defRPr>
            </a:pPr>
            <a:r>
              <a:t>Login Page (2_login.py)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336EA8"/>
                </a:solidFill>
                <a:latin typeface="Calibri"/>
              </a:rPr>
              <a:t>Session-based authentication:</a:t>
            </a:r>
          </a:p>
          <a:p>
            <a:pPr>
              <a:spcAft>
                <a:spcPts val="200"/>
              </a:spcAft>
              <a:defRPr sz="1000">
                <a:solidFill>
                  <a:srgbClr val="1A1A1A"/>
                </a:solidFill>
                <a:latin typeface="Calibri"/>
              </a:defRPr>
            </a:pPr>
            <a:r>
              <a:t>  Username + Password form</a:t>
            </a:r>
          </a:p>
          <a:p>
            <a:pPr>
              <a:spcAft>
                <a:spcPts val="200"/>
              </a:spcAft>
              <a:defRPr sz="1000">
                <a:solidFill>
                  <a:srgbClr val="1A1A1A"/>
                </a:solidFill>
                <a:latin typeface="Calibri"/>
              </a:defRPr>
            </a:pPr>
            <a:r>
              <a:t>  Verifies hash against SQLite DB</a:t>
            </a:r>
          </a:p>
          <a:p>
            <a:pPr>
              <a:spcAft>
                <a:spcPts val="200"/>
              </a:spcAft>
              <a:defRPr sz="1000">
                <a:solidFill>
                  <a:srgbClr val="1A1A1A"/>
                </a:solidFill>
                <a:latin typeface="Calibri"/>
              </a:defRPr>
            </a:pPr>
            <a:r>
              <a:t>  Sets st.session_state: logged_in, user_id, full_name, has_face</a:t>
            </a:r>
          </a:p>
          <a:p>
            <a:pPr>
              <a:spcAft>
                <a:spcPts val="200"/>
              </a:spcAft>
              <a:defRPr sz="1000">
                <a:solidFill>
                  <a:srgbClr val="1A1A1A"/>
                </a:solidFill>
                <a:latin typeface="Calibri"/>
              </a:defRPr>
            </a:pPr>
            <a:r>
              <a:t>  Auto-redirect with st.rerun() on success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19202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AB7D"/>
                </a:solidFill>
                <a:latin typeface="Calibri"/>
              </a:defRPr>
            </a:pPr>
            <a:r>
              <a:t>Register Page</a:t>
            </a:r>
          </a:p>
        </p:txBody>
      </p:sp>
      <p:pic>
        <p:nvPicPr>
          <p:cNvPr id="25" name="Picture 24" descr="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94560"/>
            <a:ext cx="5303520" cy="18288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8686800" y="2560320"/>
            <a:ext cx="2560320" cy="36576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Already logged in guard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8046720" y="2788920"/>
            <a:ext cx="640080" cy="91440"/>
          </a:xfrm>
          <a:prstGeom prst="line">
            <a:avLst/>
          </a:prstGeom>
          <a:ln w="31750">
            <a:solidFill>
              <a:srgbClr val="336E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43600" y="4160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AB7D"/>
                </a:solidFill>
                <a:latin typeface="Calibri"/>
              </a:defRPr>
            </a:pPr>
            <a:r>
              <a:t>Login Page</a:t>
            </a:r>
          </a:p>
        </p:txBody>
      </p:sp>
      <p:pic>
        <p:nvPicPr>
          <p:cNvPr id="29" name="Picture 28" descr="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4434840"/>
            <a:ext cx="5303520" cy="137160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548640" y="5669280"/>
            <a:ext cx="5029200" cy="32004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Security: PBKDF2-SHA256 (100K iterations) + 16-byte random salt per user</a:t>
            </a:r>
          </a:p>
        </p:txBody>
      </p:sp>
      <p:pic>
        <p:nvPicPr>
          <p:cNvPr id="32" name="Google Shape;110;p1">
            <a:extLst>
              <a:ext uri="{FF2B5EF4-FFF2-40B4-BE49-F238E27FC236}">
                <a16:creationId xmlns:a16="http://schemas.microsoft.com/office/drawing/2014/main" id="{460F14C9-0EB4-1203-195A-97F784322763}"/>
              </a:ext>
            </a:extLst>
          </p:cNvPr>
          <p:cNvPicPr preferRelativeResize="0"/>
          <p:nvPr/>
        </p:nvPicPr>
        <p:blipFill>
          <a:blip r:embed="rId4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97E877F-2283-569A-7F6E-B49A93700D11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Face Registration — Video Mode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51790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2763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9689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0662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7588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8561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80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64608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33872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Lecture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1286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2259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Attend.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185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0158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7084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8057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Profile</a:t>
            </a:r>
          </a:p>
        </p:txBody>
      </p:sp>
      <p:pic>
        <p:nvPicPr>
          <p:cNvPr id="20" name="Picture 19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6583680" cy="309779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498079" y="1965960"/>
            <a:ext cx="384048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1  </a:t>
            </a:r>
            <a:r>
              <a:rPr sz="1000" b="1">
                <a:solidFill>
                  <a:srgbClr val="FFFFFF"/>
                </a:solidFill>
                <a:latin typeface="Calibri"/>
              </a:rPr>
              <a:t>Video Mode — uses OpenCV camera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029200" y="2194560"/>
            <a:ext cx="2468879" cy="0"/>
          </a:xfrm>
          <a:prstGeom prst="line">
            <a:avLst/>
          </a:prstGeom>
          <a:ln w="31750">
            <a:solidFill>
              <a:srgbClr val="0479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98079" y="2514600"/>
            <a:ext cx="3840480" cy="5029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2  </a:t>
            </a:r>
            <a:r>
              <a:rPr sz="1000" b="1">
                <a:solidFill>
                  <a:srgbClr val="FFFFFF"/>
                </a:solidFill>
                <a:latin typeface="Calibri"/>
              </a:rPr>
              <a:t>4-step instruction guide
for the video capture process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5943600" y="2834640"/>
            <a:ext cx="1554479" cy="365760"/>
          </a:xfrm>
          <a:prstGeom prst="line">
            <a:avLst/>
          </a:prstGeom>
          <a:ln w="31750">
            <a:solidFill>
              <a:srgbClr val="336E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98079" y="3154680"/>
            <a:ext cx="3840480" cy="411480"/>
          </a:xfrm>
          <a:prstGeom prst="roundRect">
            <a:avLst>
              <a:gd name="adj" fmla="val 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3  </a:t>
            </a:r>
            <a:r>
              <a:rPr sz="1000" b="1">
                <a:solidFill>
                  <a:srgbClr val="FFFFFF"/>
                </a:solidFill>
                <a:latin typeface="Calibri"/>
              </a:rPr>
              <a:t>Primary action button (red CTA)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486400" y="3383280"/>
            <a:ext cx="2011679" cy="914400"/>
          </a:xfrm>
          <a:prstGeom prst="line">
            <a:avLst/>
          </a:prstGeom>
          <a:ln w="31750">
            <a:solidFill>
              <a:srgbClr val="FF6B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46177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47954"/>
                </a:solidFill>
                <a:latin typeface="Calibri"/>
              </a:defRPr>
            </a:pPr>
            <a:r>
              <a:t>Registration Pipeline: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37760"/>
            <a:ext cx="1965960" cy="68580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FRONT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3s countdown</a:t>
            </a:r>
            <a:br/>
            <a:r>
              <a:t>+ 5 frames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542032" y="5193792"/>
            <a:ext cx="164592" cy="137160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743200" y="4937760"/>
            <a:ext cx="1965960" cy="68580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RIGHT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3s countdown</a:t>
            </a:r>
            <a:br/>
            <a:r>
              <a:t>+ 5 frames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736592" y="5193792"/>
            <a:ext cx="164592" cy="137160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937760" y="4937760"/>
            <a:ext cx="1965960" cy="68580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LEFT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3s countdown</a:t>
            </a:r>
            <a:br/>
            <a:r>
              <a:t>+ 5 frames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931152" y="5193792"/>
            <a:ext cx="164592" cy="137160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132320" y="4937760"/>
            <a:ext cx="1965960" cy="68580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Process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DeepFace</a:t>
            </a:r>
            <a:br/>
            <a:r>
              <a:t>Facenet 128-dim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125712" y="5193792"/>
            <a:ext cx="164592" cy="137160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326880" y="4937760"/>
            <a:ext cx="1965960" cy="68580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Save</a:t>
            </a:r>
          </a:p>
          <a:p>
            <a:pPr algn="ctr">
              <a:spcBef>
                <a:spcPts val="200"/>
              </a:spcBef>
              <a:defRPr sz="800">
                <a:solidFill>
                  <a:srgbClr val="1A1A1A"/>
                </a:solidFill>
                <a:latin typeface="Calibri"/>
              </a:defRPr>
            </a:pPr>
            <a:r>
              <a:t>embeddings.pkl</a:t>
            </a:r>
            <a:br/>
            <a:r>
              <a:t>(user + global)</a:t>
            </a:r>
          </a:p>
        </p:txBody>
      </p:sp>
      <p:pic>
        <p:nvPicPr>
          <p:cNvPr id="38" name="Google Shape;110;p1">
            <a:extLst>
              <a:ext uri="{FF2B5EF4-FFF2-40B4-BE49-F238E27FC236}">
                <a16:creationId xmlns:a16="http://schemas.microsoft.com/office/drawing/2014/main" id="{800FD2C4-9E88-5F09-9A12-326164999696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B9B7E497-1BC4-212F-48C4-3309159606DD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Dashboard — Student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51790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2763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9689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0662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7588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8561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80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64608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33872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Lecture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1286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2259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Attend.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185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0158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7084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8057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Profile</a:t>
            </a:r>
          </a:p>
        </p:txBody>
      </p:sp>
      <p:pic>
        <p:nvPicPr>
          <p:cNvPr id="20" name="Picture 19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315200" cy="3462884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229600" y="1965960"/>
            <a:ext cx="320040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1  </a:t>
            </a:r>
            <a:r>
              <a:rPr sz="1000" b="1">
                <a:solidFill>
                  <a:srgbClr val="FFFFFF"/>
                </a:solidFill>
                <a:latin typeface="Calibri"/>
              </a:rPr>
              <a:t>Personalized welcome with name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029200" y="2194560"/>
            <a:ext cx="3200400" cy="228600"/>
          </a:xfrm>
          <a:prstGeom prst="line">
            <a:avLst/>
          </a:prstGeom>
          <a:ln w="31750">
            <a:solidFill>
              <a:srgbClr val="0479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0" y="2514600"/>
            <a:ext cx="3200400" cy="5029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2  </a:t>
            </a:r>
            <a:r>
              <a:rPr sz="1000" b="1">
                <a:solidFill>
                  <a:srgbClr val="FFFFFF"/>
                </a:solidFill>
                <a:latin typeface="Calibri"/>
              </a:rPr>
              <a:t>3 KPI metric cards
st.columns(3) + st.metric()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4572000" y="2834640"/>
            <a:ext cx="3657600" cy="91440"/>
          </a:xfrm>
          <a:prstGeom prst="line">
            <a:avLst/>
          </a:prstGeom>
          <a:ln w="31750">
            <a:solidFill>
              <a:srgbClr val="336E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229600" y="3200400"/>
            <a:ext cx="3200400" cy="50292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3  </a:t>
            </a:r>
            <a:r>
              <a:rPr sz="1000" b="1">
                <a:solidFill>
                  <a:srgbClr val="FFFFFF"/>
                </a:solidFill>
                <a:latin typeface="Calibri"/>
              </a:rPr>
              <a:t>Quick Action buttons
st.switch_page() navigation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5486400" y="3520440"/>
            <a:ext cx="2743200" cy="640080"/>
          </a:xfrm>
          <a:prstGeom prst="line">
            <a:avLst/>
          </a:prstGeom>
          <a:ln w="31750">
            <a:solidFill>
              <a:srgbClr val="0FA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48640" y="5120640"/>
            <a:ext cx="10789920" cy="822960"/>
          </a:xfrm>
          <a:prstGeom prst="roundRect">
            <a:avLst>
              <a:gd name="adj" fmla="val 5000"/>
            </a:avLst>
          </a:prstGeom>
          <a:solidFill>
            <a:srgbClr val="E8F5F0"/>
          </a:solidFill>
          <a:ln w="12700">
            <a:solidFill>
              <a:srgbClr val="0FA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i="0">
                <a:solidFill>
                  <a:srgbClr val="047954"/>
                </a:solidFill>
                <a:latin typeface="Calibri"/>
              </a:rPr>
              <a:t>Dashboard Metrics  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| Computed from session CSV files in data/processed/</a:t>
            </a:r>
          </a:p>
          <a:p>
            <a:pPr>
              <a:spcBef>
                <a:spcPts val="300"/>
              </a:spcBef>
            </a:pPr>
            <a:r>
              <a:rPr sz="900" b="1" i="0">
                <a:solidFill>
                  <a:srgbClr val="336EA8"/>
                </a:solidFill>
                <a:latin typeface="Calibri"/>
              </a:rPr>
              <a:t>Total Lectures Attended 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= count of CSVs with user data  |  </a:t>
            </a:r>
            <a:r>
              <a:rPr sz="900" b="1" i="0">
                <a:solidFill>
                  <a:srgbClr val="336EA8"/>
                </a:solidFill>
                <a:latin typeface="Calibri"/>
              </a:rPr>
              <a:t>Average Focus Score 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= focused / (focused+distracted) %  |  </a:t>
            </a:r>
            <a:r>
              <a:rPr sz="900" b="1" i="0">
                <a:solidFill>
                  <a:srgbClr val="336EA8"/>
                </a:solidFill>
                <a:latin typeface="Calibri"/>
              </a:rPr>
              <a:t>Last Activity 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= file modification timestamp</a:t>
            </a:r>
          </a:p>
        </p:txBody>
      </p:sp>
      <p:pic>
        <p:nvPicPr>
          <p:cNvPr id="29" name="Google Shape;110;p1">
            <a:extLst>
              <a:ext uri="{FF2B5EF4-FFF2-40B4-BE49-F238E27FC236}">
                <a16:creationId xmlns:a16="http://schemas.microsoft.com/office/drawing/2014/main" id="{9F6C2EC1-A5C8-23D6-621A-79F6E8FD3A3B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F5832DB-0AC6-EE41-DF68-ABFA714257A2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Join Lecture — Live AI Monitor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51790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2763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9689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0662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7588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8561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80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64608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33872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Lecture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1286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2259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Attend.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185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0158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7084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8057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Profile</a:t>
            </a:r>
          </a:p>
        </p:txBody>
      </p:sp>
      <p:pic>
        <p:nvPicPr>
          <p:cNvPr id="20" name="Picture 19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6858000" cy="325907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0" y="1965960"/>
            <a:ext cx="347472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1  </a:t>
            </a:r>
            <a:r>
              <a:rPr sz="1000" b="1">
                <a:solidFill>
                  <a:srgbClr val="FFFFFF"/>
                </a:solidFill>
                <a:latin typeface="Calibri"/>
              </a:rPr>
              <a:t>Live Monitor mode title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943600" y="2194560"/>
            <a:ext cx="1828800" cy="91440"/>
          </a:xfrm>
          <a:prstGeom prst="line">
            <a:avLst/>
          </a:prstGeom>
          <a:ln w="31750">
            <a:solidFill>
              <a:srgbClr val="0479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772400" y="2514600"/>
            <a:ext cx="3474720" cy="502920"/>
          </a:xfrm>
          <a:prstGeom prst="roundRect">
            <a:avLst>
              <a:gd name="adj" fmla="val 5000"/>
            </a:avLst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2  </a:t>
            </a:r>
            <a:r>
              <a:rPr sz="1000" b="1">
                <a:solidFill>
                  <a:srgbClr val="FFFFFF"/>
                </a:solidFill>
                <a:latin typeface="Calibri"/>
              </a:rPr>
              <a:t>Face registration guard
st.error() + st.stop()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5486400" y="2743200"/>
            <a:ext cx="2286000" cy="91440"/>
          </a:xfrm>
          <a:prstGeom prst="line">
            <a:avLst/>
          </a:prstGeom>
          <a:ln w="31750">
            <a:solidFill>
              <a:srgbClr val="E83E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3200400"/>
            <a:ext cx="347472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3  </a:t>
            </a:r>
            <a:r>
              <a:rPr sz="1000" b="1">
                <a:solidFill>
                  <a:srgbClr val="FFFFFF"/>
                </a:solidFill>
                <a:latin typeface="Calibri"/>
              </a:rPr>
              <a:t>Helpful redirect to Face Registration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5486400" y="3246120"/>
            <a:ext cx="2286000" cy="182880"/>
          </a:xfrm>
          <a:prstGeom prst="line">
            <a:avLst/>
          </a:prstGeom>
          <a:ln w="31750">
            <a:solidFill>
              <a:srgbClr val="336E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45720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47954"/>
                </a:solidFill>
                <a:latin typeface="Calibri"/>
              </a:defRPr>
            </a:pPr>
            <a:r>
              <a:t>When Face is Registered — Session Flow: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92040"/>
            <a:ext cx="1965960" cy="6400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Click Button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Enter Lecture Room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542032" y="5120640"/>
            <a:ext cx="164592" cy="137160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743200" y="4892040"/>
            <a:ext cx="1965960" cy="6400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AI Pipeline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src/main.py launches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736592" y="5120640"/>
            <a:ext cx="164592" cy="137160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937760" y="4892040"/>
            <a:ext cx="1965960" cy="64008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OpenCV Window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Real-time monitoring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931152" y="5120640"/>
            <a:ext cx="164592" cy="137160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132320" y="4892040"/>
            <a:ext cx="1965960" cy="64008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Press Q</a:t>
            </a:r>
          </a:p>
          <a:p>
            <a:pPr algn="ctr">
              <a:spcBef>
                <a:spcPts val="200"/>
              </a:spcBef>
              <a:defRPr sz="800">
                <a:solidFill>
                  <a:srgbClr val="1A1A1A"/>
                </a:solidFill>
                <a:latin typeface="Calibri"/>
              </a:defRPr>
            </a:pPr>
            <a:r>
              <a:t>End session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125712" y="5120640"/>
            <a:ext cx="164592" cy="137160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326880" y="4892040"/>
            <a:ext cx="1965960" cy="6400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Output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CSV + Charts saved</a:t>
            </a:r>
          </a:p>
        </p:txBody>
      </p:sp>
      <p:pic>
        <p:nvPicPr>
          <p:cNvPr id="38" name="Google Shape;110;p1">
            <a:extLst>
              <a:ext uri="{FF2B5EF4-FFF2-40B4-BE49-F238E27FC236}">
                <a16:creationId xmlns:a16="http://schemas.microsoft.com/office/drawing/2014/main" id="{53187B03-39BC-F237-EABB-EAE8CA7C5818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9AC08EAA-8622-FEFF-4392-9ECCB727E75E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Attendance History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51790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2763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9689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0662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7588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8561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80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64608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33872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Lecture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1286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2259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Attend.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185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0158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7084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8057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Profile</a:t>
            </a:r>
          </a:p>
        </p:txBody>
      </p:sp>
      <p:pic>
        <p:nvPicPr>
          <p:cNvPr id="20" name="Picture 19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6400800" cy="3015087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315200" y="1965960"/>
            <a:ext cx="393192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1  </a:t>
            </a:r>
            <a:r>
              <a:rPr sz="1000" b="1">
                <a:solidFill>
                  <a:srgbClr val="FFFFFF"/>
                </a:solidFill>
                <a:latin typeface="Calibri"/>
              </a:rPr>
              <a:t>Attendance History heading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029200" y="2194560"/>
            <a:ext cx="2286000" cy="137160"/>
          </a:xfrm>
          <a:prstGeom prst="line">
            <a:avLst/>
          </a:prstGeom>
          <a:ln w="31750">
            <a:solidFill>
              <a:srgbClr val="0479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15200" y="2514600"/>
            <a:ext cx="3931920" cy="5029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2  </a:t>
            </a:r>
            <a:r>
              <a:rPr sz="1000" b="1">
                <a:solidFill>
                  <a:srgbClr val="FFFFFF"/>
                </a:solidFill>
                <a:latin typeface="Calibri"/>
              </a:rPr>
              <a:t>Empty state — st.info()
shown when no lectures attended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5486400" y="2834640"/>
            <a:ext cx="1828800" cy="91440"/>
          </a:xfrm>
          <a:prstGeom prst="line">
            <a:avLst/>
          </a:prstGeom>
          <a:ln w="31750">
            <a:solidFill>
              <a:srgbClr val="336E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0" y="32918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47954"/>
                </a:solidFill>
                <a:latin typeface="Calibri"/>
              </a:defRPr>
            </a:pPr>
            <a:r>
              <a:t>When Data Exists: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61188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Interactive st.dataframe() table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Columns: Date, Time, Duration, Focus %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Parsed from session_*.csv filenames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Duration = (max_time - min_time) in minutes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Focus % = focused / (focused+distracted)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Sorted by date descending (newest first)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Auto-filters by current logged-in user</a:t>
            </a:r>
          </a:p>
        </p:txBody>
      </p:sp>
      <p:pic>
        <p:nvPicPr>
          <p:cNvPr id="28" name="Google Shape;110;p1">
            <a:extLst>
              <a:ext uri="{FF2B5EF4-FFF2-40B4-BE49-F238E27FC236}">
                <a16:creationId xmlns:a16="http://schemas.microsoft.com/office/drawing/2014/main" id="{4E5B8AF2-E2E9-E29E-D46C-74AE5AE1FC4B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13749E9-876B-1C2D-46A4-D12537616D1B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Advanced Focus Reports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51790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2763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9689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0662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7588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8561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80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64608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33872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Lecture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1286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2259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Attend.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185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0158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7084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8057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Profile</a:t>
            </a:r>
          </a:p>
        </p:txBody>
      </p:sp>
      <p:pic>
        <p:nvPicPr>
          <p:cNvPr id="20" name="Picture 19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6400800" cy="23907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315200" y="1965960"/>
            <a:ext cx="393192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1  </a:t>
            </a:r>
            <a:r>
              <a:rPr sz="1000" b="1">
                <a:solidFill>
                  <a:srgbClr val="FFFFFF"/>
                </a:solidFill>
                <a:latin typeface="Calibri"/>
              </a:rPr>
              <a:t>Advanced Focus Reports with icon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029200" y="2194560"/>
            <a:ext cx="2286000" cy="137160"/>
          </a:xfrm>
          <a:prstGeom prst="line">
            <a:avLst/>
          </a:prstGeom>
          <a:ln w="31750">
            <a:solidFill>
              <a:srgbClr val="0479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15200" y="2514600"/>
            <a:ext cx="3931920" cy="50292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2  </a:t>
            </a:r>
            <a:r>
              <a:rPr sz="1000" b="1">
                <a:solidFill>
                  <a:srgbClr val="FFFFFF"/>
                </a:solidFill>
                <a:latin typeface="Calibri"/>
              </a:rPr>
              <a:t>Session selector dropdown
st.selectbox() per session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2918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47954"/>
                </a:solidFill>
                <a:latin typeface="Calibri"/>
              </a:defRPr>
            </a:pPr>
            <a:r>
              <a:t>Full Report Features: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61188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1">
                <a:solidFill>
                  <a:srgbClr val="336EA8"/>
                </a:solidFill>
                <a:latin typeface="Calibri"/>
              </a:defRPr>
            </a:pPr>
            <a:r>
              <a:t>3 KPI Metrics:</a:t>
            </a:r>
          </a:p>
          <a:p>
            <a:pPr>
              <a:spcAft>
                <a:spcPts val="10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  Focus Score % (with status badge)</a:t>
            </a:r>
          </a:p>
          <a:p>
            <a:pPr>
              <a:spcAft>
                <a:spcPts val="10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  Session Duration (minutes)</a:t>
            </a:r>
          </a:p>
          <a:p>
            <a:pPr>
              <a:spcAft>
                <a:spcPts val="10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  Distraction Rate %</a:t>
            </a:r>
          </a:p>
          <a:p>
            <a:pPr>
              <a:spcAft>
                <a:spcPts val="10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 b="1">
                <a:solidFill>
                  <a:srgbClr val="336EA8"/>
                </a:solidFill>
                <a:latin typeface="Calibri"/>
              </a:defRPr>
            </a:pPr>
            <a:r>
              <a:t>2 Interactive Charts:</a:t>
            </a:r>
          </a:p>
          <a:p>
            <a:pPr>
              <a:spcAft>
                <a:spcPts val="10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  Focus % Over Time (line chart)</a:t>
            </a:r>
          </a:p>
          <a:p>
            <a:pPr>
              <a:spcAft>
                <a:spcPts val="10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  Session Distribution (pie chart)</a:t>
            </a:r>
          </a:p>
          <a:p>
            <a:pPr>
              <a:spcAft>
                <a:spcPts val="10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 b="1">
                <a:solidFill>
                  <a:srgbClr val="0FAB7D"/>
                </a:solidFill>
                <a:latin typeface="Calibri"/>
              </a:defRPr>
            </a:pPr>
            <a:r>
              <a:t>  Matplotlib + st.pyplot()</a:t>
            </a:r>
          </a:p>
          <a:p>
            <a:pPr>
              <a:spcAft>
                <a:spcPts val="10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  Cumulative rolling focus %</a:t>
            </a:r>
          </a:p>
          <a:p>
            <a:pPr>
              <a:spcAft>
                <a:spcPts val="100"/>
              </a:spcAft>
              <a:defRPr sz="900" b="0">
                <a:solidFill>
                  <a:srgbClr val="1A1A1A"/>
                </a:solidFill>
                <a:latin typeface="Calibri"/>
              </a:defRPr>
            </a:pPr>
            <a:r>
              <a:t>  Red/Green fill zones</a:t>
            </a:r>
          </a:p>
        </p:txBody>
      </p:sp>
      <p:pic>
        <p:nvPicPr>
          <p:cNvPr id="27" name="Google Shape;110;p1">
            <a:extLst>
              <a:ext uri="{FF2B5EF4-FFF2-40B4-BE49-F238E27FC236}">
                <a16:creationId xmlns:a16="http://schemas.microsoft.com/office/drawing/2014/main" id="{453641A5-57DE-AFAC-DFDF-3FC1A1745CB7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82D5A13-2CC4-71B5-0A47-EE0F6B14823B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Profile Settings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51790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62763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9689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70662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Login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7588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8561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Face Reg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54880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64608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33872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943600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Lecture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12864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22592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Attend.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1856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01584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70848" y="1581912"/>
            <a:ext cx="109728" cy="128016"/>
          </a:xfrm>
          <a:prstGeom prst="rightArrow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80576" y="1508760"/>
            <a:ext cx="1005840" cy="27432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Profile</a:t>
            </a:r>
          </a:p>
        </p:txBody>
      </p:sp>
      <p:pic>
        <p:nvPicPr>
          <p:cNvPr id="20" name="Picture 19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6400800" cy="3055155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315200" y="1965960"/>
            <a:ext cx="3931920" cy="4114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1  </a:t>
            </a:r>
            <a:r>
              <a:rPr sz="1000" b="1">
                <a:solidFill>
                  <a:srgbClr val="FFFFFF"/>
                </a:solidFill>
                <a:latin typeface="Calibri"/>
              </a:rPr>
              <a:t>Update Information section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840480" y="2194560"/>
            <a:ext cx="3474720" cy="411480"/>
          </a:xfrm>
          <a:prstGeom prst="line">
            <a:avLst/>
          </a:prstGeom>
          <a:ln w="31750">
            <a:solidFill>
              <a:srgbClr val="0479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15200" y="2514600"/>
            <a:ext cx="3931920" cy="4114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2  </a:t>
            </a:r>
            <a:r>
              <a:rPr sz="1000" b="1">
                <a:solidFill>
                  <a:srgbClr val="FFFFFF"/>
                </a:solidFill>
                <a:latin typeface="Calibri"/>
              </a:rPr>
              <a:t>Pre-filled email from database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4114800" y="2743200"/>
            <a:ext cx="3200400" cy="274320"/>
          </a:xfrm>
          <a:prstGeom prst="line">
            <a:avLst/>
          </a:prstGeom>
          <a:ln w="31750">
            <a:solidFill>
              <a:srgbClr val="336E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15200" y="3063240"/>
            <a:ext cx="3931920" cy="50292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3  </a:t>
            </a:r>
            <a:r>
              <a:rPr sz="1000" b="1">
                <a:solidFill>
                  <a:srgbClr val="FFFFFF"/>
                </a:solidFill>
                <a:latin typeface="Calibri"/>
              </a:rPr>
              <a:t>Optional password change
with confirmation field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4114800" y="3383280"/>
            <a:ext cx="3200400" cy="457200"/>
          </a:xfrm>
          <a:prstGeom prst="line">
            <a:avLst/>
          </a:prstGeom>
          <a:ln w="31750">
            <a:solidFill>
              <a:srgbClr val="0FAB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15200" y="3749039"/>
            <a:ext cx="3931920" cy="41148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Bef>
                <a:spcPts val="300"/>
              </a:spcBef>
            </a:pPr>
            <a:r>
              <a:rPr sz="1100" b="1">
                <a:solidFill>
                  <a:srgbClr val="D7B119"/>
                </a:solidFill>
                <a:latin typeface="Calibri"/>
              </a:rPr>
              <a:t>4  </a:t>
            </a:r>
            <a:r>
              <a:rPr sz="1000" b="1">
                <a:solidFill>
                  <a:srgbClr val="1A1A1A"/>
                </a:solidFill>
                <a:latin typeface="Calibri"/>
              </a:rPr>
              <a:t>Save Changes — st.form_submit_button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200400" y="3977639"/>
            <a:ext cx="4114800" cy="1051561"/>
          </a:xfrm>
          <a:prstGeom prst="line">
            <a:avLst/>
          </a:prstGeom>
          <a:ln w="31750">
            <a:solidFill>
              <a:srgbClr val="D7B11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315200" y="43891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47954"/>
                </a:solidFill>
                <a:latin typeface="Calibri"/>
              </a:defRPr>
            </a:pPr>
            <a:r>
              <a:t>Additional Features: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70916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Face Registration status indicator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Quick link to update face data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st.form() prevents re-runs on input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Validates password match before saving</a:t>
            </a:r>
          </a:p>
          <a:p>
            <a:pPr>
              <a:spcAft>
                <a:spcPts val="200"/>
              </a:spcAft>
              <a:defRPr sz="900">
                <a:solidFill>
                  <a:srgbClr val="1A1A1A"/>
                </a:solidFill>
                <a:latin typeface="Calibri"/>
              </a:defRPr>
            </a:pPr>
            <a:r>
              <a:t>  Updates SQLite users table</a:t>
            </a:r>
          </a:p>
        </p:txBody>
      </p:sp>
      <p:pic>
        <p:nvPicPr>
          <p:cNvPr id="32" name="Google Shape;110;p1">
            <a:extLst>
              <a:ext uri="{FF2B5EF4-FFF2-40B4-BE49-F238E27FC236}">
                <a16:creationId xmlns:a16="http://schemas.microsoft.com/office/drawing/2014/main" id="{8B485873-13F0-D3D6-5DC0-D66EAECE36A4}"/>
              </a:ext>
            </a:extLst>
          </p:cNvPr>
          <p:cNvPicPr preferRelativeResize="0"/>
          <p:nvPr/>
        </p:nvPicPr>
        <p:blipFill>
          <a:blip r:embed="rId3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D1D7EFF-9F39-C52A-0229-F78FE88ADFDB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47954"/>
                </a:solidFill>
                <a:latin typeface="Calibri"/>
              </a:defRPr>
            </a:pPr>
            <a:r>
              <a:t>Tech Stack &amp; Database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9164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Streamlit App 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423160" cy="6400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Streamlit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Multi-page app framework</a:t>
            </a:r>
            <a:br/>
            <a:r>
              <a:t>with session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057400"/>
            <a:ext cx="2423160" cy="6400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SQLite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User accounts, auth,</a:t>
            </a:r>
            <a:br/>
            <a:r>
              <a:t>embedding paths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640"/>
            <a:ext cx="2423160" cy="640080"/>
          </a:xfrm>
          <a:prstGeom prst="roundRect">
            <a:avLst>
              <a:gd name="adj" fmla="val 5000"/>
            </a:avLst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DeepFace / Facenet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128-dim face embedding</a:t>
            </a:r>
            <a:br/>
            <a:r>
              <a:t>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2834640"/>
            <a:ext cx="2423160" cy="640080"/>
          </a:xfrm>
          <a:prstGeom prst="roundRect">
            <a:avLst>
              <a:gd name="adj" fmla="val 5000"/>
            </a:avLst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OpenCV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Camera capture for</a:t>
            </a:r>
            <a:br/>
            <a:r>
              <a:t>face registration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11880"/>
            <a:ext cx="2423160" cy="640080"/>
          </a:xfrm>
          <a:prstGeom prst="roundRect">
            <a:avLst>
              <a:gd name="adj" fmla="val 5000"/>
            </a:avLst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Matplotlib</a:t>
            </a:r>
          </a:p>
          <a:p>
            <a:pPr algn="ctr">
              <a:spcBef>
                <a:spcPts val="200"/>
              </a:spcBef>
              <a:defRPr sz="800">
                <a:solidFill>
                  <a:srgbClr val="1A1A1A"/>
                </a:solidFill>
                <a:latin typeface="Calibri"/>
              </a:defRPr>
            </a:pPr>
            <a:r>
              <a:t>Focus charts: line +</a:t>
            </a:r>
            <a:br/>
            <a:r>
              <a:t>pie via st.pyplot()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3611880"/>
            <a:ext cx="2423160" cy="640080"/>
          </a:xfrm>
          <a:prstGeom prst="roundRect">
            <a:avLst>
              <a:gd name="adj" fmla="val 5000"/>
            </a:avLst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Pandas</a:t>
            </a:r>
          </a:p>
          <a:p>
            <a:pPr algn="ctr">
              <a:spcBef>
                <a:spcPts val="200"/>
              </a:spcBef>
              <a:defRPr sz="800">
                <a:solidFill>
                  <a:srgbClr val="FFFFFF"/>
                </a:solidFill>
                <a:latin typeface="Calibri"/>
              </a:defRPr>
            </a:pPr>
            <a:r>
              <a:t>CSV parsing &amp;</a:t>
            </a:r>
            <a:br/>
            <a:r>
              <a:t>data aggregation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3484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47954"/>
                </a:solidFill>
                <a:latin typeface="Calibri"/>
              </a:defRPr>
            </a:pPr>
            <a:r>
              <a:t>SQLite Database Schema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754880"/>
          <a:ext cx="5029200" cy="172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4305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Column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0479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305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INTEGER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PRIMARY KEY AUTO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4305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full_name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4305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username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UNIQUE NOT NULL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4305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UNIQUE 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4305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password_hash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4305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embedding_path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Nullable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4305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created_at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TIMESTAMP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DEFAULT NOW</a:t>
                      </a:r>
                    </a:p>
                  </a:txBody>
                  <a:tcPr>
                    <a:solidFill>
                      <a:srgbClr val="E8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43600" y="169164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FAB7D"/>
                </a:solidFill>
                <a:latin typeface="Calibri"/>
              </a:defRPr>
            </a:pPr>
            <a:r>
              <a:t>Key Streamlit Patterns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103120"/>
            <a:ext cx="182880" cy="18288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203911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47954"/>
                </a:solidFill>
                <a:latin typeface="Calibri"/>
              </a:defRPr>
            </a:pPr>
            <a:r>
              <a:t>Multi-Page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2219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pages/ directory with numbered files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0" y="2606040"/>
            <a:ext cx="182880" cy="182880"/>
          </a:xfrm>
          <a:prstGeom prst="ellipse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25420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36EA8"/>
                </a:solidFill>
                <a:latin typeface="Calibri"/>
              </a:defRPr>
            </a:pPr>
            <a:r>
              <a:t>Session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724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st.session_state for auth persistence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108960"/>
            <a:ext cx="182880" cy="182880"/>
          </a:xfrm>
          <a:prstGeom prst="ellipse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304495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E83E3E"/>
                </a:solidFill>
                <a:latin typeface="Calibri"/>
              </a:defRPr>
            </a:pPr>
            <a:r>
              <a:t>Auth Guards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227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require_auth() + st.stop() pattern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3611880"/>
            <a:ext cx="182880" cy="18288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0" y="354787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AB7D"/>
                </a:solidFill>
                <a:latin typeface="Calibri"/>
              </a:defRPr>
            </a:pPr>
            <a:r>
              <a:t>st.form()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7307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Prevents re-runs on each input change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0" y="4114800"/>
            <a:ext cx="182880" cy="182880"/>
          </a:xfrm>
          <a:prstGeom prst="ellipse">
            <a:avLst/>
          </a:prstGeom>
          <a:solidFill>
            <a:srgbClr val="33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0" y="405079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36EA8"/>
                </a:solidFill>
                <a:latin typeface="Calibri"/>
              </a:defRPr>
            </a:pPr>
            <a:r>
              <a:t>st.metric()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2336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KPI cards with delta indicators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4617720"/>
            <a:ext cx="182880" cy="182880"/>
          </a:xfrm>
          <a:prstGeom prst="ellipse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17920" y="455371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47954"/>
                </a:solidFill>
                <a:latin typeface="Calibri"/>
              </a:defRPr>
            </a:pPr>
            <a:r>
              <a:t>st.columns()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7365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Responsive multi-column layouts</a:t>
            </a:r>
          </a:p>
        </p:txBody>
      </p:sp>
      <p:sp>
        <p:nvSpPr>
          <p:cNvPr id="31" name="Oval 30"/>
          <p:cNvSpPr/>
          <p:nvPr/>
        </p:nvSpPr>
        <p:spPr>
          <a:xfrm>
            <a:off x="5943600" y="5120640"/>
            <a:ext cx="182880" cy="182880"/>
          </a:xfrm>
          <a:prstGeom prst="ellipse">
            <a:avLst/>
          </a:prstGeom>
          <a:solidFill>
            <a:srgbClr val="D7B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0" y="50566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7B119"/>
                </a:solidFill>
                <a:latin typeface="Calibri"/>
              </a:defRPr>
            </a:pPr>
            <a:r>
              <a:t>st.switch_page()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2395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In-app navigation between pages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5623560"/>
            <a:ext cx="182880" cy="182880"/>
          </a:xfrm>
          <a:prstGeom prst="ellipse">
            <a:avLst/>
          </a:prstGeom>
          <a:solidFill>
            <a:srgbClr val="0FA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17920" y="555955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AB7D"/>
                </a:solidFill>
                <a:latin typeface="Calibri"/>
              </a:defRPr>
            </a:pPr>
            <a:r>
              <a:t>st.pyplot()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57424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1A1A1A"/>
                </a:solidFill>
                <a:latin typeface="Calibri"/>
              </a:defRPr>
            </a:pPr>
            <a:r>
              <a:t>Matplotlib chart embedding</a:t>
            </a:r>
          </a:p>
        </p:txBody>
      </p:sp>
      <p:pic>
        <p:nvPicPr>
          <p:cNvPr id="38" name="Google Shape;110;p1">
            <a:extLst>
              <a:ext uri="{FF2B5EF4-FFF2-40B4-BE49-F238E27FC236}">
                <a16:creationId xmlns:a16="http://schemas.microsoft.com/office/drawing/2014/main" id="{80391446-784F-0E8F-2A13-BE673B4C3897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543838" y="6354099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3BB862A4-0BB7-66D8-C1E1-4C0DF8079A39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22476" y="2103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047954"/>
                </a:solidFill>
                <a:latin typeface="Calibri"/>
              </a:defRPr>
            </a:pPr>
            <a:r>
              <a:rPr dirty="0"/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44952" cy="36576"/>
          </a:xfrm>
          <a:prstGeom prst="rect">
            <a:avLst/>
          </a:prstGeom>
          <a:solidFill>
            <a:srgbClr val="047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522476" y="3200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36EA8"/>
                </a:solidFill>
                <a:latin typeface="Calibri"/>
              </a:defRPr>
            </a:pPr>
            <a:r>
              <a:t>Student Focus Monitoring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2476" y="3566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36EA8"/>
                </a:solidFill>
                <a:latin typeface="Calibri"/>
              </a:defRPr>
            </a:pPr>
            <a:r>
              <a:rPr dirty="0"/>
              <a:t>DEPI Graduation Project —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2476" y="4206240"/>
            <a:ext cx="9144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1A1A1A"/>
                </a:solidFill>
                <a:latin typeface="Calibri"/>
              </a:rPr>
              <a:t>Project Git-Hub Repository Link:</a:t>
            </a:r>
            <a:endParaRPr lang="ar-EG" sz="1800" b="0" i="0" dirty="0">
              <a:solidFill>
                <a:srgbClr val="1A1A1A"/>
              </a:solidFill>
              <a:latin typeface="Calibri"/>
            </a:endParaRPr>
          </a:p>
          <a:p>
            <a:pPr algn="ctr"/>
            <a:r>
              <a:rPr sz="1600" b="0" i="0" dirty="0">
                <a:solidFill>
                  <a:srgbClr val="1A1A1A"/>
                </a:solidFill>
                <a:latin typeface="Calibri"/>
              </a:rPr>
              <a:t>🔗  github.com/</a:t>
            </a:r>
            <a:r>
              <a:rPr sz="1600" b="0" i="0" dirty="0" err="1">
                <a:solidFill>
                  <a:srgbClr val="1A1A1A"/>
                </a:solidFill>
                <a:latin typeface="Calibri"/>
              </a:rPr>
              <a:t>MrJazzar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/DEPI-Graduation-Project</a:t>
            </a:r>
          </a:p>
        </p:txBody>
      </p:sp>
      <p:pic>
        <p:nvPicPr>
          <p:cNvPr id="7" name="Google Shape;110;p1">
            <a:extLst>
              <a:ext uri="{FF2B5EF4-FFF2-40B4-BE49-F238E27FC236}">
                <a16:creationId xmlns:a16="http://schemas.microsoft.com/office/drawing/2014/main" id="{C325A2E1-EEF7-90FC-497A-243250923499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8708681" y="6323935"/>
            <a:ext cx="1362250" cy="3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6349942-B332-72E8-6096-B5073DA3562C}"/>
              </a:ext>
            </a:extLst>
          </p:cNvPr>
          <p:cNvSpPr txBox="1"/>
          <p:nvPr/>
        </p:nvSpPr>
        <p:spPr>
          <a:xfrm>
            <a:off x="11036808" y="6411447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1709</TotalTime>
  <Words>2089</Words>
  <Application>Microsoft Office PowerPoint</Application>
  <PresentationFormat>Widescreen</PresentationFormat>
  <Paragraphs>495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SAMA</dc:creator>
  <cp:lastModifiedBy>Mohamed Tamer Elsheikh</cp:lastModifiedBy>
  <cp:revision>72</cp:revision>
  <dcterms:created xsi:type="dcterms:W3CDTF">2024-03-14T10:03:54Z</dcterms:created>
  <dcterms:modified xsi:type="dcterms:W3CDTF">2026-06-30T12:30:32Z</dcterms:modified>
</cp:coreProperties>
</file>