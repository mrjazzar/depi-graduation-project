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jOmBtk5DbvnkierGKxpb4ZbKw0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21" Type="http://customschemas.google.com/relationships/presentationmetadata" Target="metadata"/><Relationship Id="rId7" Type="http://schemas.openxmlformats.org/officeDocument/2006/relationships/slide" Target="slides/slide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5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0" name="Google Shape;40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44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63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8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8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1" name="Google Shape;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8"/>
          <p:cNvSpPr/>
          <p:nvPr/>
        </p:nvSpPr>
        <p:spPr>
          <a:xfrm>
            <a:off x="10933155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</p:sp>
      <p:sp>
        <p:nvSpPr>
          <p:cNvPr id="53" name="Google Shape;5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6" name="Google Shape;66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0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5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3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3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13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" name="Google Shape;13;p13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3"/>
          <p:cNvSpPr/>
          <p:nvPr/>
        </p:nvSpPr>
        <p:spPr>
          <a:xfrm>
            <a:off x="10974189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Google Shape;15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2011680"/>
            <a:ext cx="94457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047954"/>
                </a:solidFill>
                <a:latin typeface="Calibri"/>
              </a:defRPr>
            </a:pPr>
            <a:r>
              <a:t>Student Focus Monitoring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2743200"/>
            <a:ext cx="3959352" cy="36576"/>
          </a:xfrm>
          <a:prstGeom prst="rect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36EA8"/>
                </a:solidFill>
                <a:latin typeface="Calibri"/>
              </a:defRPr>
            </a:pPr>
            <a:r>
              <a:t>Real-Time Multi-Person AI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36EA8"/>
                </a:solidFill>
                <a:latin typeface="Calibri"/>
              </a:defRPr>
            </a:pPr>
            <a:r>
              <a:t>Using Computer Vision &amp;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5752" cy="25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sz="1800" dirty="0"/>
              <a:t>Presented by</a:t>
            </a:r>
            <a:endParaRPr lang="ar-EG" sz="1800" dirty="0"/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sz="1800" dirty="0" err="1"/>
              <a:t>Moamen</a:t>
            </a:r>
            <a:r>
              <a:rPr lang="en-US" sz="1800" dirty="0"/>
              <a:t> Ahmed Farouk</a:t>
            </a:r>
            <a:r>
              <a:rPr lang="ar-EG" sz="1800" dirty="0"/>
              <a:t> </a:t>
            </a:r>
            <a:r>
              <a:rPr lang="en-US" sz="1800" dirty="0"/>
              <a:t>(Team Leader)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lang="en-US" sz="1800" dirty="0"/>
              <a:t>Mohamed Tamer Elsheikh</a:t>
            </a:r>
          </a:p>
          <a:p>
            <a:pPr algn="ctr">
              <a:lnSpc>
                <a:spcPct val="115000"/>
              </a:lnSpc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lang="en-US" sz="1800" dirty="0"/>
              <a:t>Moaz Abdelmoneim</a:t>
            </a:r>
            <a:r>
              <a:rPr lang="ar-EG" sz="1800" dirty="0"/>
              <a:t> </a:t>
            </a:r>
            <a:r>
              <a:rPr lang="en-US" sz="1800" dirty="0" err="1"/>
              <a:t>Abdelaleem</a:t>
            </a:r>
            <a:r>
              <a:rPr lang="en-US" sz="1800" dirty="0"/>
              <a:t> </a:t>
            </a:r>
          </a:p>
          <a:p>
            <a:pPr algn="ctr">
              <a:lnSpc>
                <a:spcPct val="115000"/>
              </a:lnSpc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lang="en-US" sz="1800" dirty="0"/>
              <a:t>Wisal </a:t>
            </a:r>
            <a:r>
              <a:rPr lang="en-US" sz="1800" dirty="0" err="1"/>
              <a:t>Metwaly</a:t>
            </a:r>
            <a:r>
              <a:rPr lang="en-US" sz="1800" dirty="0"/>
              <a:t> Mostafa</a:t>
            </a:r>
          </a:p>
          <a:p>
            <a:pPr algn="ctr">
              <a:lnSpc>
                <a:spcPct val="115000"/>
              </a:lnSpc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lang="en-US" sz="1800" dirty="0"/>
              <a:t>Karen Wadid Riad</a:t>
            </a:r>
          </a:p>
          <a:p>
            <a:pPr algn="ctr">
              <a:lnSpc>
                <a:spcPct val="115000"/>
              </a:lnSpc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lang="en-US" sz="1800" dirty="0"/>
              <a:t>Reem Yasser Fathy</a:t>
            </a:r>
          </a:p>
          <a:p>
            <a:pPr algn="ctr">
              <a:lnSpc>
                <a:spcPct val="115000"/>
              </a:lnSpc>
              <a:defRPr sz="1400" b="0">
                <a:solidFill>
                  <a:srgbClr val="1A1A1A"/>
                </a:solidFill>
                <a:latin typeface="Calibri"/>
              </a:defRPr>
            </a:pP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1450259" y="3664544"/>
            <a:ext cx="9445752" cy="358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0FAB7D"/>
                </a:solidFill>
                <a:latin typeface="Calibri"/>
              </a:defRPr>
            </a:pPr>
            <a:r>
              <a:rPr sz="1600" dirty="0"/>
              <a:t>Digital Egypt Pioneers Initiative (DEPI) — Graduation Project</a:t>
            </a:r>
          </a:p>
        </p:txBody>
      </p:sp>
      <p:pic>
        <p:nvPicPr>
          <p:cNvPr id="9" name="Google Shape;110;p1">
            <a:extLst>
              <a:ext uri="{FF2B5EF4-FFF2-40B4-BE49-F238E27FC236}">
                <a16:creationId xmlns:a16="http://schemas.microsoft.com/office/drawing/2014/main" id="{6635ED39-71AB-8BC0-188A-65428482AF0A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Project Idea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64008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73152" cy="1234440"/>
          </a:xfrm>
          <a:prstGeom prst="rect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64792"/>
            <a:ext cx="6080760" cy="358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6EA8"/>
                </a:solidFill>
                <a:latin typeface="Calibri"/>
              </a:defRPr>
            </a:pPr>
            <a:r>
              <a:rPr sz="1600" dirty="0"/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39112"/>
            <a:ext cx="6080760" cy="79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300" dirty="0"/>
              <a:t>Manually monitoring student attention in classrooms is impossible at scale. Teachers cannot simultaneously track multiple students, objectively measure engagement levels, or detect phone usage and exam cheating in real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64008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3017520"/>
            <a:ext cx="73152" cy="1234440"/>
          </a:xfrm>
          <a:prstGeom prst="rect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090672"/>
            <a:ext cx="6080760" cy="358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47954"/>
                </a:solidFill>
                <a:latin typeface="Calibri"/>
              </a:defRPr>
            </a:pPr>
            <a:r>
              <a:rPr sz="1600" dirty="0"/>
              <a:t>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64992"/>
            <a:ext cx="6242992" cy="79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300" dirty="0"/>
              <a:t>A real-time AI-powered system that uses a standard webcam to simultaneously monitor up to 4 students — classifying each student's focus state every second, detecting phone usage, and identifying attempts to spoof the system with printed photos.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640080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4343400"/>
            <a:ext cx="73152" cy="1554480"/>
          </a:xfrm>
          <a:prstGeom prst="rect">
            <a:avLst/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416552"/>
            <a:ext cx="6080760" cy="358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7B119"/>
                </a:solidFill>
                <a:latin typeface="Calibri"/>
              </a:defRPr>
            </a:pPr>
            <a:r>
              <a:rPr sz="1600" dirty="0"/>
              <a:t>Unique Value Proposition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90872"/>
            <a:ext cx="6080760" cy="1036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300" dirty="0"/>
              <a:t>• First-of-its-kind per-person attribution (phone matched to holder)</a:t>
            </a:r>
            <a:br>
              <a:rPr sz="1300" dirty="0"/>
            </a:br>
            <a:r>
              <a:rPr sz="1300" dirty="0"/>
              <a:t>• Anti-spoofing via adaptive blink detection — not just ML</a:t>
            </a:r>
            <a:br>
              <a:rPr sz="1300" dirty="0"/>
            </a:br>
            <a:r>
              <a:rPr sz="1300" dirty="0"/>
              <a:t>• Zero-effort calibration — 3-second baseline per session</a:t>
            </a:r>
            <a:br>
              <a:rPr sz="1300" dirty="0"/>
            </a:br>
            <a:r>
              <a:rPr sz="1300" dirty="0"/>
              <a:t>• Generates timestamped CSV + analytics charts per student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1828800"/>
            <a:ext cx="3474720" cy="59436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📷</a:t>
            </a:r>
          </a:p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Camera Feed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125711" y="2423160"/>
            <a:ext cx="219456" cy="411480"/>
          </a:xfrm>
          <a:prstGeom prst="down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98079" y="2880360"/>
            <a:ext cx="3474720" cy="59436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🧠</a:t>
            </a:r>
          </a:p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AI Analysis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9125711" y="3474720"/>
            <a:ext cx="219456" cy="411480"/>
          </a:xfrm>
          <a:prstGeom prst="down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98079" y="3931920"/>
            <a:ext cx="3474720" cy="59436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📊</a:t>
            </a:r>
          </a:p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Real-Time Overlay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9125711" y="4526280"/>
            <a:ext cx="219456" cy="411480"/>
          </a:xfrm>
          <a:prstGeom prst="down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498079" y="4983480"/>
            <a:ext cx="3474720" cy="59436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📈</a:t>
            </a:r>
          </a:p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Session Report</a:t>
            </a:r>
          </a:p>
        </p:txBody>
      </p:sp>
      <p:pic>
        <p:nvPicPr>
          <p:cNvPr id="23" name="Google Shape;110;p1">
            <a:extLst>
              <a:ext uri="{FF2B5EF4-FFF2-40B4-BE49-F238E27FC236}">
                <a16:creationId xmlns:a16="http://schemas.microsoft.com/office/drawing/2014/main" id="{DF7D56B5-E78A-593E-4B35-17C08F082010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System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1371600" cy="4114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Camera Frame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965960" y="180594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286000" y="1691640"/>
            <a:ext cx="182880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 dirty="0" err="1"/>
              <a:t>MediaPipe</a:t>
            </a:r>
            <a:r>
              <a:rPr sz="1100" dirty="0"/>
              <a:t> </a:t>
            </a:r>
            <a:r>
              <a:rPr sz="1100" dirty="0" err="1"/>
              <a:t>FaceLandmarker</a:t>
            </a:r>
            <a:endParaRPr sz="1100" dirty="0"/>
          </a:p>
        </p:txBody>
      </p:sp>
      <p:sp>
        <p:nvSpPr>
          <p:cNvPr id="6" name="TextBox 5"/>
          <p:cNvSpPr txBox="1"/>
          <p:nvPr/>
        </p:nvSpPr>
        <p:spPr>
          <a:xfrm>
            <a:off x="2286000" y="21031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1A1A1A"/>
                </a:solidFill>
                <a:latin typeface="Calibri"/>
              </a:defRPr>
            </a:pPr>
            <a:r>
              <a:rPr dirty="0"/>
              <a:t>478 landmarks per face (up to 4)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60519" y="180594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80560" y="1691640"/>
            <a:ext cx="1645920" cy="411480"/>
          </a:xfrm>
          <a:prstGeom prst="roundRect">
            <a:avLst>
              <a:gd name="adj" fmla="val 5000"/>
            </a:avLst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Feature Extractor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1031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1A1A1A"/>
                </a:solidFill>
                <a:latin typeface="Calibri"/>
              </a:defRPr>
            </a:pPr>
            <a:r>
              <a:t>EAR · Yaw · Pitch · Roll · Gaze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72200" y="162306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6172200" y="208026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37960" y="1463040"/>
            <a:ext cx="155448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Focus Classifier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138160" y="157734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503920" y="1463040"/>
            <a:ext cx="1554480" cy="4114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Focused / Distracted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148840"/>
            <a:ext cx="155448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Liveness Detector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138160" y="226314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503920" y="2148840"/>
            <a:ext cx="1554480" cy="4114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Live / Spoof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090672" y="2286000"/>
            <a:ext cx="219456" cy="274320"/>
          </a:xfrm>
          <a:prstGeom prst="down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86000" y="2651760"/>
            <a:ext cx="155448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Face Recognizer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886200" y="276606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206240" y="2651760"/>
            <a:ext cx="1371600" cy="4114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Person Name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1124712" y="2103120"/>
            <a:ext cx="219456" cy="274320"/>
          </a:xfrm>
          <a:prstGeom prst="down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48640" y="3703320"/>
            <a:ext cx="182880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YOLOv8 Phone Detector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2423159" y="381762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743200" y="3703320"/>
            <a:ext cx="1371600" cy="4114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Phone </a:t>
            </a:r>
            <a:r>
              <a:rPr sz="1200" dirty="0" err="1"/>
              <a:t>BBox</a:t>
            </a:r>
            <a:endParaRPr sz="1200" dirty="0"/>
          </a:p>
        </p:txBody>
      </p:sp>
      <p:sp>
        <p:nvSpPr>
          <p:cNvPr id="26" name="Right Arrow 25"/>
          <p:cNvSpPr/>
          <p:nvPr/>
        </p:nvSpPr>
        <p:spPr>
          <a:xfrm>
            <a:off x="4160520" y="381762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480560" y="3703320"/>
            <a:ext cx="1828800" cy="411480"/>
          </a:xfrm>
          <a:prstGeom prst="roundRect">
            <a:avLst>
              <a:gd name="adj" fmla="val 5000"/>
            </a:avLst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Match to Nearest Person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4480560"/>
            <a:ext cx="2286000" cy="411480"/>
          </a:xfrm>
          <a:prstGeom prst="roundRect">
            <a:avLst>
              <a:gd name="adj" fmla="val 5000"/>
            </a:avLst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050" dirty="0" err="1"/>
              <a:t>PersonState</a:t>
            </a:r>
            <a:r>
              <a:rPr sz="1050" dirty="0"/>
              <a:t> — Majority Vote Buffer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4233672" y="4114800"/>
            <a:ext cx="219456" cy="320040"/>
          </a:xfrm>
          <a:prstGeom prst="down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ight Arrow 29"/>
          <p:cNvSpPr/>
          <p:nvPr/>
        </p:nvSpPr>
        <p:spPr>
          <a:xfrm>
            <a:off x="5532120" y="459486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52160" y="4480560"/>
            <a:ext cx="1828800" cy="411480"/>
          </a:xfrm>
          <a:prstGeom prst="roundRect">
            <a:avLst>
              <a:gd name="adj" fmla="val 5000"/>
            </a:avLst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rPr sz="1200" dirty="0"/>
              <a:t>Session Reporter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726679" y="459486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046720" y="4480560"/>
            <a:ext cx="1828800" cy="411480"/>
          </a:xfrm>
          <a:prstGeom prst="roundRect">
            <a:avLst>
              <a:gd name="adj" fmla="val 5000"/>
            </a:avLst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rPr sz="1200" dirty="0"/>
              <a:t>CSV + Charts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486400"/>
            <a:ext cx="182880" cy="182880"/>
          </a:xfrm>
          <a:prstGeom prst="rect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0120" y="5468112"/>
            <a:ext cx="1371600" cy="292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200" dirty="0"/>
              <a:t>Input/Output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5486400"/>
            <a:ext cx="182880" cy="182880"/>
          </a:xfrm>
          <a:prstGeom prst="rect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971800" y="5468112"/>
            <a:ext cx="1371600" cy="292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200" dirty="0"/>
              <a:t>AI Model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5486400"/>
            <a:ext cx="182880" cy="182880"/>
          </a:xfrm>
          <a:prstGeom prst="rect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83480" y="5468112"/>
            <a:ext cx="1371600" cy="292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200" dirty="0"/>
              <a:t>Feature/Utility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66560" y="5486400"/>
            <a:ext cx="182880" cy="182880"/>
          </a:xfrm>
          <a:prstGeom prst="rect">
            <a:avLst/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95160" y="5468112"/>
            <a:ext cx="1371600" cy="292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200" dirty="0"/>
              <a:t>Final Output</a:t>
            </a:r>
          </a:p>
        </p:txBody>
      </p:sp>
      <p:pic>
        <p:nvPicPr>
          <p:cNvPr id="43" name="Google Shape;110;p1">
            <a:extLst>
              <a:ext uri="{FF2B5EF4-FFF2-40B4-BE49-F238E27FC236}">
                <a16:creationId xmlns:a16="http://schemas.microsoft.com/office/drawing/2014/main" id="{A712D1F6-B283-E923-4696-6682632632BE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rPr dirty="0"/>
              <a:t>End Users &amp; 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AB7D"/>
                </a:solidFill>
                <a:latin typeface="Calibri"/>
              </a:defRPr>
            </a:pPr>
            <a:r>
              <a:t>End Users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👨‍🏫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965960"/>
            <a:ext cx="41148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Instructors &amp; Teachers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240280"/>
            <a:ext cx="41148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Track which students are engaged vs. distracted during lectures or lab sessions.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154680"/>
            <a:ext cx="457200" cy="457200"/>
          </a:xfrm>
          <a:prstGeom prst="ellipse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🏛️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108960"/>
            <a:ext cx="41148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6EA8"/>
                </a:solidFill>
                <a:latin typeface="Calibri"/>
              </a:defRPr>
            </a:pPr>
            <a:r>
              <a:rPr sz="1800" dirty="0"/>
              <a:t>Exam Proctors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383280"/>
            <a:ext cx="41148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Detect phone usage and verify the physical presence of a real student (anti-spoofing).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97680"/>
            <a:ext cx="457200" cy="45720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251960"/>
            <a:ext cx="41148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FAB7D"/>
                </a:solidFill>
                <a:latin typeface="Calibri"/>
              </a:defRPr>
            </a:pPr>
            <a:r>
              <a:rPr sz="1800" dirty="0"/>
              <a:t>Educational Institutions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526280"/>
            <a:ext cx="41148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Generate session-level attendance + focus reports for evaluation and improvement.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AB7D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14" name="Oval 13"/>
          <p:cNvSpPr/>
          <p:nvPr/>
        </p:nvSpPr>
        <p:spPr>
          <a:xfrm>
            <a:off x="5760720" y="1993392"/>
            <a:ext cx="365760" cy="36576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920240"/>
            <a:ext cx="22860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Multi-Person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76272"/>
            <a:ext cx="22860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Up to 4 students simultaneously</a:t>
            </a:r>
          </a:p>
        </p:txBody>
      </p:sp>
      <p:sp>
        <p:nvSpPr>
          <p:cNvPr id="17" name="Oval 16"/>
          <p:cNvSpPr/>
          <p:nvPr/>
        </p:nvSpPr>
        <p:spPr>
          <a:xfrm>
            <a:off x="8595360" y="1993392"/>
            <a:ext cx="365760" cy="36576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920240"/>
            <a:ext cx="22860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Face Recognition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176272"/>
            <a:ext cx="22860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600" dirty="0" err="1"/>
              <a:t>DeepFace</a:t>
            </a:r>
            <a:r>
              <a:rPr sz="1600" dirty="0"/>
              <a:t> / </a:t>
            </a:r>
            <a:r>
              <a:rPr sz="1600" dirty="0" err="1"/>
              <a:t>Facenet</a:t>
            </a:r>
            <a:r>
              <a:rPr sz="1600" dirty="0"/>
              <a:t> embeddings</a:t>
            </a:r>
          </a:p>
        </p:txBody>
      </p:sp>
      <p:sp>
        <p:nvSpPr>
          <p:cNvPr id="20" name="Oval 19"/>
          <p:cNvSpPr/>
          <p:nvPr/>
        </p:nvSpPr>
        <p:spPr>
          <a:xfrm>
            <a:off x="5760720" y="3090672"/>
            <a:ext cx="365760" cy="36576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017520"/>
            <a:ext cx="22860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Focus Classification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273552"/>
            <a:ext cx="22860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Random Forest + 3/sec majority vote</a:t>
            </a:r>
          </a:p>
        </p:txBody>
      </p:sp>
      <p:sp>
        <p:nvSpPr>
          <p:cNvPr id="23" name="Oval 22"/>
          <p:cNvSpPr/>
          <p:nvPr/>
        </p:nvSpPr>
        <p:spPr>
          <a:xfrm>
            <a:off x="8595360" y="3090672"/>
            <a:ext cx="365760" cy="36576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017520"/>
            <a:ext cx="313944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Smart Phone Detection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3273552"/>
            <a:ext cx="22860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YOLOv8 — attributed per individual</a:t>
            </a:r>
          </a:p>
        </p:txBody>
      </p:sp>
      <p:sp>
        <p:nvSpPr>
          <p:cNvPr id="26" name="Oval 25"/>
          <p:cNvSpPr/>
          <p:nvPr/>
        </p:nvSpPr>
        <p:spPr>
          <a:xfrm>
            <a:off x="5760720" y="4187952"/>
            <a:ext cx="365760" cy="36576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🛡️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14800"/>
            <a:ext cx="22860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Liveness / Anti-Spoof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370832"/>
            <a:ext cx="2286000" cy="358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Adaptive blink detection</a:t>
            </a:r>
          </a:p>
        </p:txBody>
      </p:sp>
      <p:sp>
        <p:nvSpPr>
          <p:cNvPr id="29" name="Oval 28"/>
          <p:cNvSpPr/>
          <p:nvPr/>
        </p:nvSpPr>
        <p:spPr>
          <a:xfrm>
            <a:off x="8595360" y="4187952"/>
            <a:ext cx="365760" cy="36576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114800"/>
            <a:ext cx="22860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Session 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370832"/>
            <a:ext cx="2286000" cy="358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Per-person charts + CSV</a:t>
            </a:r>
          </a:p>
        </p:txBody>
      </p:sp>
      <p:pic>
        <p:nvPicPr>
          <p:cNvPr id="33" name="Google Shape;110;p1">
            <a:extLst>
              <a:ext uri="{FF2B5EF4-FFF2-40B4-BE49-F238E27FC236}">
                <a16:creationId xmlns:a16="http://schemas.microsoft.com/office/drawing/2014/main" id="{DF873828-40E8-E180-0C66-4EDD64EAE6D9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Data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39" y="1691640"/>
            <a:ext cx="6786226" cy="41908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dirty="0">
                <a:solidFill>
                  <a:srgbClr val="047954"/>
                </a:solidFill>
                <a:latin typeface="Calibri"/>
              </a:rPr>
              <a:t>Training Dataset </a:t>
            </a:r>
            <a:r>
              <a:rPr sz="1800" b="0" i="1" dirty="0">
                <a:solidFill>
                  <a:srgbClr val="336EA8"/>
                </a:solidFill>
                <a:latin typeface="Calibri"/>
              </a:rPr>
              <a:t>(features_clean.csv)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Rows: Labeled face images (Focused / Distracted)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Features: EAR · Yaw · Pitch · Roll · Gaze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Label: Binary — 1 (Focused) / 0 (Distracted)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Used to train the Random Forest classifier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600" b="0">
                <a:solidFill>
                  <a:srgbClr val="1A1A1A"/>
                </a:solidFill>
                <a:latin typeface="Calibri"/>
              </a:defRPr>
            </a:pPr>
            <a:endParaRPr sz="1800" dirty="0"/>
          </a:p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rPr sz="1800" b="1" i="0" dirty="0">
                <a:solidFill>
                  <a:srgbClr val="047954"/>
                </a:solidFill>
                <a:latin typeface="Calibri"/>
              </a:rPr>
              <a:t>Session Output CSV </a:t>
            </a:r>
            <a:r>
              <a:rPr sz="1800" b="0" i="1" dirty="0">
                <a:solidFill>
                  <a:srgbClr val="336EA8"/>
                </a:solidFill>
                <a:latin typeface="Calibri"/>
              </a:rPr>
              <a:t>(session_YYYY-MM-DD_HH-MM-SS.csv)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Columns: time · person · state · EAR · YAW · PITCH · ROLL · GAZE · </a:t>
            </a:r>
            <a:r>
              <a:rPr sz="1600" dirty="0" err="1"/>
              <a:t>focus_pct</a:t>
            </a:r>
            <a:endParaRPr sz="1600" dirty="0"/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One row per classification sample (3 rows/sec per person)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Timestamped automatically at session end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600" b="0">
                <a:solidFill>
                  <a:srgbClr val="1A1A1A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rPr sz="1800" b="1" i="0" dirty="0">
                <a:solidFill>
                  <a:srgbClr val="047954"/>
                </a:solidFill>
                <a:latin typeface="Calibri"/>
              </a:rPr>
              <a:t>Face Embeddings </a:t>
            </a:r>
            <a:r>
              <a:rPr sz="1800" b="0" i="1" dirty="0">
                <a:solidFill>
                  <a:srgbClr val="336EA8"/>
                </a:solidFill>
                <a:latin typeface="Calibri"/>
              </a:rPr>
              <a:t>(</a:t>
            </a:r>
            <a:r>
              <a:rPr sz="1800" b="0" i="1" dirty="0" err="1">
                <a:solidFill>
                  <a:srgbClr val="336EA8"/>
                </a:solidFill>
                <a:latin typeface="Calibri"/>
              </a:rPr>
              <a:t>embeddings.pkl</a:t>
            </a:r>
            <a:r>
              <a:rPr sz="1800" b="0" i="1" dirty="0">
                <a:solidFill>
                  <a:srgbClr val="336EA8"/>
                </a:solidFill>
                <a:latin typeface="Calibr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Dictionary: {</a:t>
            </a:r>
            <a:r>
              <a:rPr sz="1600" dirty="0" err="1"/>
              <a:t>person_name</a:t>
            </a:r>
            <a:r>
              <a:rPr sz="1600" dirty="0"/>
              <a:t>: </a:t>
            </a:r>
            <a:r>
              <a:rPr sz="1600" dirty="0" err="1"/>
              <a:t>avg_embedding_vector</a:t>
            </a:r>
            <a:r>
              <a:rPr sz="1600" dirty="0"/>
              <a:t>}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Generated from face videos using </a:t>
            </a:r>
            <a:r>
              <a:rPr sz="1600" dirty="0" err="1"/>
              <a:t>DeepFace</a:t>
            </a:r>
            <a:r>
              <a:rPr sz="1600" dirty="0"/>
              <a:t>/</a:t>
            </a:r>
            <a:r>
              <a:rPr sz="1600" dirty="0" err="1"/>
              <a:t>Facenet</a:t>
            </a:r>
            <a:endParaRPr sz="1600" dirty="0"/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Used for real-time identity matching via cosine similarity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14160" y="1240561"/>
            <a:ext cx="50292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Sample Session CSV Output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49787"/>
              </p:ext>
            </p:extLst>
          </p:nvPr>
        </p:nvGraphicFramePr>
        <p:xfrm>
          <a:off x="6614160" y="1815599"/>
          <a:ext cx="5135388" cy="1792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13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63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13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13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75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82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person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state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EAR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YAW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focus_pct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21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3.20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Mohamed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focused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0.28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-1.2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21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lang="en-US" dirty="0" err="1"/>
                        <a:t>Moamen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distracted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21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3.87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Wisal</a:t>
                      </a:r>
                      <a:endParaRPr dirty="0"/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focused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0.29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-0.8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100%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9" name="Google Shape;110;p1">
            <a:extLst>
              <a:ext uri="{FF2B5EF4-FFF2-40B4-BE49-F238E27FC236}">
                <a16:creationId xmlns:a16="http://schemas.microsoft.com/office/drawing/2014/main" id="{B8742E10-8285-1EA9-4359-7E1F92344DCD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AB7D"/>
                </a:solidFill>
                <a:latin typeface="Calibri"/>
              </a:defRPr>
            </a:pPr>
            <a:r>
              <a:rPr dirty="0"/>
              <a:t>Core Language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286000" cy="45720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🐍  Python 3.10+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AB7D"/>
                </a:solidFill>
                <a:latin typeface="Calibri"/>
              </a:defRPr>
            </a:pPr>
            <a:r>
              <a:t>AI &amp; Computer Vision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92608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1800" dirty="0" err="1"/>
              <a:t>MediaPipe</a:t>
            </a:r>
            <a:endParaRPr sz="1800" dirty="0"/>
          </a:p>
          <a:p>
            <a:pPr algn="ctr">
              <a:spcBef>
                <a:spcPts val="300"/>
              </a:spcBef>
              <a:defRPr sz="1000">
                <a:solidFill>
                  <a:srgbClr val="E8EFF7"/>
                </a:solidFill>
                <a:latin typeface="Calibri"/>
              </a:defRPr>
            </a:pPr>
            <a:r>
              <a:rPr sz="1200" dirty="0"/>
              <a:t>Face landmark detection — 478 points per face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9080" y="292608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1800" dirty="0" err="1"/>
              <a:t>DeepFace</a:t>
            </a:r>
            <a:r>
              <a:rPr sz="1800" dirty="0"/>
              <a:t> / </a:t>
            </a:r>
            <a:r>
              <a:rPr sz="1800" dirty="0" err="1"/>
              <a:t>Facenet</a:t>
            </a:r>
            <a:endParaRPr sz="1800" dirty="0"/>
          </a:p>
          <a:p>
            <a:pPr algn="ctr">
              <a:spcBef>
                <a:spcPts val="300"/>
              </a:spcBef>
              <a:defRPr sz="1000">
                <a:solidFill>
                  <a:srgbClr val="E8EFF7"/>
                </a:solidFill>
                <a:latin typeface="Calibri"/>
              </a:defRPr>
            </a:pPr>
            <a:r>
              <a:rPr sz="1200" dirty="0"/>
              <a:t>Face embedding &amp; identity recognition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92608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YOLOv8 (</a:t>
            </a:r>
            <a:r>
              <a:rPr sz="1600" dirty="0" err="1"/>
              <a:t>Ultralytics</a:t>
            </a:r>
            <a:r>
              <a:rPr sz="1600" dirty="0"/>
              <a:t>)</a:t>
            </a:r>
          </a:p>
          <a:p>
            <a:pPr algn="ctr">
              <a:spcBef>
                <a:spcPts val="300"/>
              </a:spcBef>
              <a:defRPr sz="1000">
                <a:solidFill>
                  <a:srgbClr val="E8EFF7"/>
                </a:solidFill>
                <a:latin typeface="Calibri"/>
              </a:defRPr>
            </a:pPr>
            <a:r>
              <a:rPr sz="1200" dirty="0"/>
              <a:t>Real-time phone/object detection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Scikit-Learn</a:t>
            </a:r>
          </a:p>
          <a:p>
            <a:pPr algn="ctr">
              <a:spcBef>
                <a:spcPts val="300"/>
              </a:spcBef>
              <a:defRPr sz="1000">
                <a:solidFill>
                  <a:srgbClr val="E8EFF7"/>
                </a:solidFill>
                <a:latin typeface="Calibri"/>
              </a:defRPr>
            </a:pPr>
            <a:r>
              <a:rPr sz="1200" dirty="0"/>
              <a:t>Random Forest focus classifier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379476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TensorFlow 2.x</a:t>
            </a:r>
          </a:p>
          <a:p>
            <a:pPr algn="ctr">
              <a:spcBef>
                <a:spcPts val="300"/>
              </a:spcBef>
              <a:defRPr sz="1000">
                <a:solidFill>
                  <a:srgbClr val="E8EFF7"/>
                </a:solidFill>
                <a:latin typeface="Calibri"/>
              </a:defRPr>
            </a:pPr>
            <a:r>
              <a:rPr sz="1200" dirty="0"/>
              <a:t>Backend runtime for </a:t>
            </a:r>
            <a:r>
              <a:rPr sz="1200" dirty="0" err="1"/>
              <a:t>DeepFace</a:t>
            </a:r>
            <a:r>
              <a:rPr sz="1200" dirty="0"/>
              <a:t> &amp; </a:t>
            </a:r>
            <a:r>
              <a:rPr sz="1200" dirty="0" err="1"/>
              <a:t>MediaPipe</a:t>
            </a:r>
            <a:endParaRPr sz="1200" dirty="0"/>
          </a:p>
        </p:txBody>
      </p:sp>
      <p:sp>
        <p:nvSpPr>
          <p:cNvPr id="11" name="Rounded Rectangle 10"/>
          <p:cNvSpPr/>
          <p:nvPr/>
        </p:nvSpPr>
        <p:spPr>
          <a:xfrm>
            <a:off x="7589520" y="379476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OpenCV</a:t>
            </a:r>
          </a:p>
          <a:p>
            <a:pPr algn="ctr">
              <a:spcBef>
                <a:spcPts val="300"/>
              </a:spcBef>
              <a:defRPr sz="1000">
                <a:solidFill>
                  <a:srgbClr val="E8EFF7"/>
                </a:solidFill>
                <a:latin typeface="Calibri"/>
              </a:defRPr>
            </a:pPr>
            <a:r>
              <a:rPr sz="1200" dirty="0"/>
              <a:t>Webcam capture &amp; frame rendering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AB7D"/>
                </a:solidFill>
                <a:latin typeface="Calibri"/>
              </a:defRPr>
            </a:pPr>
            <a:r>
              <a:t>Analytics &amp; Utilities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21208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Matplotlib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521208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lang="en-US" sz="1600" dirty="0"/>
              <a:t>Pandas</a:t>
            </a:r>
            <a:endParaRPr sz="1600" dirty="0"/>
          </a:p>
        </p:txBody>
      </p:sp>
      <p:sp>
        <p:nvSpPr>
          <p:cNvPr id="15" name="Rounded Rectangle 14"/>
          <p:cNvSpPr/>
          <p:nvPr/>
        </p:nvSpPr>
        <p:spPr>
          <a:xfrm>
            <a:off x="4114800" y="521208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NumPy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521208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SciPy</a:t>
            </a:r>
          </a:p>
        </p:txBody>
      </p:sp>
      <p:pic>
        <p:nvPicPr>
          <p:cNvPr id="17" name="Google Shape;110;p1">
            <a:extLst>
              <a:ext uri="{FF2B5EF4-FFF2-40B4-BE49-F238E27FC236}">
                <a16:creationId xmlns:a16="http://schemas.microsoft.com/office/drawing/2014/main" id="{C325A2E1-EEF7-90FC-497A-243250923499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600035" y="6353431"/>
            <a:ext cx="1362250" cy="36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rPr dirty="0"/>
              <a:t>Live Application &amp; Testing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691640"/>
            <a:ext cx="365760" cy="365760"/>
          </a:xfrm>
          <a:prstGeom prst="ellipse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057400"/>
            <a:ext cx="36576" cy="6400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673352"/>
            <a:ext cx="41148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1148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Run </a:t>
            </a:r>
            <a:r>
              <a:rPr sz="1600" dirty="0" err="1"/>
              <a:t>py</a:t>
            </a:r>
            <a:r>
              <a:rPr sz="1600" dirty="0"/>
              <a:t> src/main.py — all models load automatically.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80"/>
            <a:ext cx="365760" cy="36576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063240"/>
            <a:ext cx="36576" cy="6400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679192"/>
            <a:ext cx="41148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FAB7D"/>
                </a:solidFill>
                <a:latin typeface="Calibri"/>
              </a:defRPr>
            </a:pPr>
            <a:r>
              <a:rPr sz="1800" dirty="0"/>
              <a:t>3-Second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926080"/>
            <a:ext cx="41148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System reads neutral head pose and EAR baseline to personalize predictions.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03320"/>
            <a:ext cx="365760" cy="365760"/>
          </a:xfrm>
          <a:prstGeom prst="ellipse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4069080"/>
            <a:ext cx="36576" cy="6400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3685032"/>
            <a:ext cx="41148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6EA8"/>
                </a:solidFill>
                <a:latin typeface="Calibri"/>
              </a:defRPr>
            </a:pPr>
            <a:r>
              <a:rPr sz="1800" dirty="0"/>
              <a:t>Real-Time 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931920"/>
            <a:ext cx="4114800" cy="64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Each person gets a labeled bounding box updated 3× per second.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709160"/>
            <a:ext cx="365760" cy="365760"/>
          </a:xfrm>
          <a:prstGeom prst="ellipse">
            <a:avLst/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690872"/>
            <a:ext cx="41148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7B119"/>
                </a:solidFill>
                <a:latin typeface="Calibri"/>
              </a:defRPr>
            </a:pPr>
            <a:r>
              <a:rPr sz="1800" dirty="0"/>
              <a:t>Session End (press Q)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937760"/>
            <a:ext cx="41148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Timestamped CSV saved + per-person analytics charts displayed.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600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47954"/>
                </a:solidFill>
                <a:latin typeface="Calibri"/>
              </a:defRPr>
            </a:pPr>
            <a:r>
              <a:t>Visual State Legend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1965960"/>
            <a:ext cx="5303520" cy="1005840"/>
          </a:xfrm>
          <a:prstGeom prst="roundRect">
            <a:avLst>
              <a:gd name="adj" fmla="val 5000"/>
            </a:avLst>
          </a:prstGeom>
          <a:solidFill>
            <a:srgbClr val="F0FFF0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80760" y="2011680"/>
            <a:ext cx="5029200" cy="666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dirty="0">
                <a:solidFill>
                  <a:srgbClr val="4CAF50"/>
                </a:solidFill>
                <a:latin typeface="Calibri"/>
              </a:rPr>
              <a:t>🟢 Mohamed — Focused (87%) — Live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Student is on-task, eyes forward, no phone detected.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108960"/>
            <a:ext cx="5303520" cy="100584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38100"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80760" y="3154680"/>
            <a:ext cx="50292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dirty="0">
                <a:solidFill>
                  <a:srgbClr val="F96167"/>
                </a:solidFill>
                <a:latin typeface="Calibri"/>
              </a:rPr>
              <a:t>🟠 Moaz — Distracted (34%) [PHONE!]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Phone matched to this person via YOLOv8 bounding box proximity.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4251960"/>
            <a:ext cx="5303520" cy="1005840"/>
          </a:xfrm>
          <a:prstGeom prst="roundRect">
            <a:avLst>
              <a:gd name="adj" fmla="val 5000"/>
            </a:avLst>
          </a:prstGeom>
          <a:solidFill>
            <a:srgbClr val="FFEBEB"/>
          </a:solidFill>
          <a:ln w="3810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80760" y="4297680"/>
            <a:ext cx="50292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dirty="0">
                <a:solidFill>
                  <a:srgbClr val="D32F2F"/>
                </a:solidFill>
                <a:latin typeface="Calibri"/>
              </a:rPr>
              <a:t>🔴 Unknown — SPOOF!! / FAKE FACE!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No blinks detected after grace period — anti-spoofing triggered.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920" y="5670679"/>
            <a:ext cx="12070080" cy="333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 i="1">
                <a:solidFill>
                  <a:srgbClr val="666666"/>
                </a:solidFill>
                <a:latin typeface="Calibri"/>
              </a:defRPr>
            </a:pPr>
            <a:r>
              <a:rPr sz="1450" dirty="0"/>
              <a:t>Model: 5 facial feature signals (EAR, Yaw, Pitch, Roll, Gaze) · 3 samples/sec majority vote · Cosine similarity threshold: 0.65 · Random Forest accuracy: 92.8%</a:t>
            </a:r>
          </a:p>
        </p:txBody>
      </p:sp>
      <p:pic>
        <p:nvPicPr>
          <p:cNvPr id="26" name="Google Shape;110;p1">
            <a:extLst>
              <a:ext uri="{FF2B5EF4-FFF2-40B4-BE49-F238E27FC236}">
                <a16:creationId xmlns:a16="http://schemas.microsoft.com/office/drawing/2014/main" id="{C325A2E1-EEF7-90FC-497A-243250923499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738178" y="6356191"/>
            <a:ext cx="1362250" cy="36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Project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916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73352"/>
            <a:ext cx="54864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Source Code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901952"/>
            <a:ext cx="7379208" cy="333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450" dirty="0"/>
              <a:t>Full modular OOP codebase on GitHub — </a:t>
            </a:r>
            <a:r>
              <a:rPr sz="1450" dirty="0" err="1"/>
              <a:t>src</a:t>
            </a:r>
            <a:r>
              <a:rPr sz="1450" dirty="0"/>
              <a:t>/, scripts/, notebooks/ organized by responsibility.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59152"/>
            <a:ext cx="54864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Pre-Trained Model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587752"/>
            <a:ext cx="7583719" cy="333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450" dirty="0" err="1"/>
              <a:t>model.pkl</a:t>
            </a:r>
            <a:r>
              <a:rPr sz="1450" dirty="0"/>
              <a:t> (Random Forest) + </a:t>
            </a:r>
            <a:r>
              <a:rPr sz="1450" dirty="0" err="1"/>
              <a:t>scaler.pkl</a:t>
            </a:r>
            <a:r>
              <a:rPr sz="1450" dirty="0"/>
              <a:t> (</a:t>
            </a:r>
            <a:r>
              <a:rPr sz="1450" dirty="0" err="1"/>
              <a:t>StandardScaler</a:t>
            </a:r>
            <a:r>
              <a:rPr sz="1450" dirty="0"/>
              <a:t>) — ready to run without retraining.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44952"/>
            <a:ext cx="54864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6EA8"/>
                </a:solidFill>
                <a:latin typeface="Calibri"/>
              </a:defRPr>
            </a:pPr>
            <a:r>
              <a:rPr sz="1800" dirty="0"/>
              <a:t>Jupyter Notebook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73552"/>
            <a:ext cx="8732520" cy="317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350" dirty="0"/>
              <a:t>notebooks/</a:t>
            </a:r>
            <a:r>
              <a:rPr sz="1350" dirty="0" err="1"/>
              <a:t>experimentation.ipynb</a:t>
            </a:r>
            <a:r>
              <a:rPr sz="1350" dirty="0"/>
              <a:t> — full ML pipeline: EDA, feature engineering, model training, evaluation.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30752"/>
            <a:ext cx="54864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6EA8"/>
                </a:solidFill>
                <a:latin typeface="Calibri"/>
              </a:defRPr>
            </a:pPr>
            <a:r>
              <a:rPr sz="1800" dirty="0"/>
              <a:t>Technical Documentation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59352"/>
            <a:ext cx="8078478" cy="317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350" dirty="0"/>
              <a:t>Detailed README.md covering system architecture, quick-start guide, dataset downloads, and pipeline.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16552"/>
            <a:ext cx="54864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FAB7D"/>
                </a:solidFill>
                <a:latin typeface="Calibri"/>
              </a:defRPr>
            </a:pPr>
            <a:r>
              <a:rPr sz="1800" dirty="0"/>
              <a:t>Session Analytics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45152"/>
            <a:ext cx="7379208" cy="333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450" dirty="0"/>
              <a:t>Per-session timestamped CSV + Matplotlib charts (focus line chart + per-person pie charts).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206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102352"/>
            <a:ext cx="54864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FAB7D"/>
                </a:solidFill>
                <a:latin typeface="Calibri"/>
              </a:defRPr>
            </a:pPr>
            <a:r>
              <a:rPr sz="1800" dirty="0"/>
              <a:t>Data Preparation Scripts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330952"/>
            <a:ext cx="8305800" cy="333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450" dirty="0"/>
              <a:t>generate_embeddings.py — builds face DB from video. extract_features.py — converts images to CSV.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5920" y="16002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47954"/>
                </a:solidFill>
                <a:latin typeface="Calibri"/>
              </a:defRPr>
            </a:pPr>
            <a:r>
              <a:rPr dirty="0"/>
              <a:t>Project Timeline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92896" y="2417552"/>
            <a:ext cx="36576" cy="731520"/>
          </a:xfrm>
          <a:prstGeom prst="rect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619744" y="2234672"/>
            <a:ext cx="182880" cy="182880"/>
          </a:xfrm>
          <a:prstGeom prst="ellipse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00160" y="2151424"/>
            <a:ext cx="2743200" cy="34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Dataset Collection&amp; Labeling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92896" y="3331952"/>
            <a:ext cx="36576" cy="731520"/>
          </a:xfrm>
          <a:prstGeom prst="rect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619744" y="3149072"/>
            <a:ext cx="182880" cy="182880"/>
          </a:xfrm>
          <a:prstGeom prst="ellipse">
            <a:avLst/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78529" y="2948399"/>
            <a:ext cx="3411794" cy="34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Feature Engineering</a:t>
            </a:r>
            <a:r>
              <a:rPr lang="en-US" sz="1600" dirty="0"/>
              <a:t> </a:t>
            </a:r>
            <a:r>
              <a:rPr sz="1600" dirty="0"/>
              <a:t>&amp; Model</a:t>
            </a:r>
            <a:r>
              <a:rPr lang="en-US" sz="1600" dirty="0"/>
              <a:t> </a:t>
            </a:r>
            <a:r>
              <a:rPr sz="1600" dirty="0"/>
              <a:t>Training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92896" y="4246352"/>
            <a:ext cx="36576" cy="731520"/>
          </a:xfrm>
          <a:prstGeom prst="rect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619744" y="4063472"/>
            <a:ext cx="182880" cy="182880"/>
          </a:xfrm>
          <a:prstGeom prst="ellipse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900160" y="3980120"/>
            <a:ext cx="2743200" cy="34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System Integration</a:t>
            </a:r>
            <a:r>
              <a:rPr lang="en-US" sz="1600" dirty="0"/>
              <a:t> </a:t>
            </a:r>
            <a:r>
              <a:rPr sz="1600" dirty="0"/>
              <a:t>&amp; Testing</a:t>
            </a:r>
          </a:p>
        </p:txBody>
      </p:sp>
      <p:sp>
        <p:nvSpPr>
          <p:cNvPr id="31" name="Oval 30"/>
          <p:cNvSpPr/>
          <p:nvPr/>
        </p:nvSpPr>
        <p:spPr>
          <a:xfrm>
            <a:off x="8619744" y="4977872"/>
            <a:ext cx="182880" cy="182880"/>
          </a:xfrm>
          <a:prstGeom prst="ellipse">
            <a:avLst/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875776" y="4874794"/>
            <a:ext cx="3127248" cy="34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Final Deployment</a:t>
            </a:r>
            <a:r>
              <a:rPr lang="en-US" sz="1600" dirty="0"/>
              <a:t> </a:t>
            </a:r>
            <a:r>
              <a:rPr sz="1600" dirty="0"/>
              <a:t>&amp; Presentation</a:t>
            </a:r>
          </a:p>
        </p:txBody>
      </p:sp>
      <p:pic>
        <p:nvPicPr>
          <p:cNvPr id="33" name="Google Shape;110;p1">
            <a:extLst>
              <a:ext uri="{FF2B5EF4-FFF2-40B4-BE49-F238E27FC236}">
                <a16:creationId xmlns:a16="http://schemas.microsoft.com/office/drawing/2014/main" id="{C325A2E1-EEF7-90FC-497A-243250923499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22476" y="2103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047954"/>
                </a:solidFill>
                <a:latin typeface="Calibri"/>
              </a:defRPr>
            </a:pPr>
            <a:r>
              <a:rPr dirty="0"/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926080"/>
            <a:ext cx="3044952" cy="36576"/>
          </a:xfrm>
          <a:prstGeom prst="rect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522476" y="3200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36EA8"/>
                </a:solidFill>
                <a:latin typeface="Calibri"/>
              </a:defRPr>
            </a:pPr>
            <a:r>
              <a:t>Student Focus Monitoring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2476" y="35661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36EA8"/>
                </a:solidFill>
                <a:latin typeface="Calibri"/>
              </a:defRPr>
            </a:pPr>
            <a:r>
              <a:rPr dirty="0"/>
              <a:t>DEPI Graduation Project —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2476" y="4206240"/>
            <a:ext cx="9144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1A1A1A"/>
                </a:solidFill>
                <a:latin typeface="Calibri"/>
              </a:rPr>
              <a:t>Project Git-Hub Repository Link:</a:t>
            </a:r>
            <a:endParaRPr lang="ar-EG" sz="1800" b="0" i="0" dirty="0">
              <a:solidFill>
                <a:srgbClr val="1A1A1A"/>
              </a:solidFill>
              <a:latin typeface="Calibri"/>
            </a:endParaRPr>
          </a:p>
          <a:p>
            <a:pPr algn="ctr"/>
            <a:r>
              <a:rPr sz="1600" b="0" i="0" dirty="0">
                <a:solidFill>
                  <a:srgbClr val="1A1A1A"/>
                </a:solidFill>
                <a:latin typeface="Calibri"/>
              </a:rPr>
              <a:t>🔗  github.com/</a:t>
            </a:r>
            <a:r>
              <a:rPr sz="1600" b="0" i="0" dirty="0" err="1">
                <a:solidFill>
                  <a:srgbClr val="1A1A1A"/>
                </a:solidFill>
                <a:latin typeface="Calibri"/>
              </a:rPr>
              <a:t>MrJazzar</a:t>
            </a:r>
            <a:r>
              <a:rPr sz="1600" b="0" i="0" dirty="0">
                <a:solidFill>
                  <a:srgbClr val="1A1A1A"/>
                </a:solidFill>
                <a:latin typeface="Calibri"/>
              </a:rPr>
              <a:t>/DEPI-Graduation-Project</a:t>
            </a:r>
          </a:p>
        </p:txBody>
      </p:sp>
      <p:pic>
        <p:nvPicPr>
          <p:cNvPr id="7" name="Google Shape;110;p1">
            <a:extLst>
              <a:ext uri="{FF2B5EF4-FFF2-40B4-BE49-F238E27FC236}">
                <a16:creationId xmlns:a16="http://schemas.microsoft.com/office/drawing/2014/main" id="{C325A2E1-EEF7-90FC-497A-243250923499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708681" y="6323935"/>
            <a:ext cx="1362250" cy="36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956</Words>
  <Application>Microsoft Office PowerPoint</Application>
  <PresentationFormat>Widescreen</PresentationFormat>
  <Paragraphs>190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SAMA</dc:creator>
  <cp:lastModifiedBy>Mohamed Tamer Elsheikh</cp:lastModifiedBy>
  <cp:revision>38</cp:revision>
  <dcterms:created xsi:type="dcterms:W3CDTF">2024-03-14T10:03:54Z</dcterms:created>
  <dcterms:modified xsi:type="dcterms:W3CDTF">2026-06-25T18:11:46Z</dcterms:modified>
</cp:coreProperties>
</file>